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379f31bac2f435d" /><Relationship Type="http://schemas.openxmlformats.org/officeDocument/2006/relationships/extended-properties" Target="/docProps/app.xml" Id="R2f643233c14a4f21" /><Relationship Type="http://schemas.openxmlformats.org/officeDocument/2006/relationships/officeDocument" Target="/ppt/presentation.xml" Id="R13e81ba5e8a54ed0" /></Relationships>
</file>

<file path=ppt/presentation.xml><?xml version="1.0" encoding="utf-8"?>
<p:presentation xmlns:p="http://schemas.openxmlformats.org/presentationml/2006/main">
  <p:sldMasterIdLst>
    <p:sldMasterId xmlns:r="http://schemas.openxmlformats.org/officeDocument/2006/relationships" id="2147483648" r:id="Rd726efbd4e664c2c"/>
  </p:sldMasterIdLst>
  <p:notesMasterIdLst>
    <p:notesMasterId xmlns:r="http://schemas.openxmlformats.org/officeDocument/2006/relationships" r:id="Rd90765acdd2a41bc"/>
  </p:notesMasterIdLst>
  <p:sldIdLst>
    <p:sldId xmlns:r="http://schemas.openxmlformats.org/officeDocument/2006/relationships" id="256" r:id="Ra403420fd2e54583"/>
    <p:sldId xmlns:r="http://schemas.openxmlformats.org/officeDocument/2006/relationships" id="257" r:id="R94f908d59a9945e3"/>
    <p:sldId xmlns:r="http://schemas.openxmlformats.org/officeDocument/2006/relationships" id="258" r:id="Rb3528d877b9a4030"/>
    <p:sldId xmlns:r="http://schemas.openxmlformats.org/officeDocument/2006/relationships" id="259" r:id="R7dea5c832af74fdc"/>
    <p:sldId xmlns:r="http://schemas.openxmlformats.org/officeDocument/2006/relationships" id="260" r:id="R4eaee1f295e74d2b"/>
    <p:sldId xmlns:r="http://schemas.openxmlformats.org/officeDocument/2006/relationships" id="261" r:id="R1e6973a11afd49ae"/>
    <p:sldId xmlns:r="http://schemas.openxmlformats.org/officeDocument/2006/relationships" id="262" r:id="R4659693107864509"/>
    <p:sldId xmlns:r="http://schemas.openxmlformats.org/officeDocument/2006/relationships" id="263" r:id="R8cb82f8ba43042d5"/>
    <p:sldId xmlns:r="http://schemas.openxmlformats.org/officeDocument/2006/relationships" id="264" r:id="R4dd76231054c4891"/>
    <p:sldId xmlns:r="http://schemas.openxmlformats.org/officeDocument/2006/relationships" id="265" r:id="R5fe155da00c74670"/>
    <p:sldId xmlns:r="http://schemas.openxmlformats.org/officeDocument/2006/relationships" id="266" r:id="R0ee3e57b9e0142c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a27dcd4ab914312" /><Relationship Type="http://schemas.openxmlformats.org/officeDocument/2006/relationships/slideMaster" Target="/ppt/slideMasters/slideMaster1.xml" Id="Rd726efbd4e664c2c" /><Relationship Type="http://schemas.openxmlformats.org/officeDocument/2006/relationships/notesMaster" Target="/ppt/notesMasters/notesMaster1.xml" Id="Rd90765acdd2a41bc" /><Relationship Type="http://schemas.openxmlformats.org/officeDocument/2006/relationships/presProps" Target="/ppt/presProps.xml" Id="Rf29240257e4749d3" /><Relationship Type="http://schemas.openxmlformats.org/officeDocument/2006/relationships/tableStyles" Target="/ppt/tableStyles.xml" Id="Rdea2860db12d449d" /><Relationship Type="http://schemas.openxmlformats.org/officeDocument/2006/relationships/slide" Target="/ppt/slides/slide1.xml" Id="Ra403420fd2e54583" /><Relationship Type="http://schemas.openxmlformats.org/officeDocument/2006/relationships/slide" Target="/ppt/slides/slide2.xml" Id="R94f908d59a9945e3" /><Relationship Type="http://schemas.openxmlformats.org/officeDocument/2006/relationships/slide" Target="/ppt/slides/slide3.xml" Id="Rb3528d877b9a4030" /><Relationship Type="http://schemas.openxmlformats.org/officeDocument/2006/relationships/slide" Target="/ppt/slides/slide4.xml" Id="R7dea5c832af74fdc" /><Relationship Type="http://schemas.openxmlformats.org/officeDocument/2006/relationships/slide" Target="/ppt/slides/slide5.xml" Id="R4eaee1f295e74d2b" /><Relationship Type="http://schemas.openxmlformats.org/officeDocument/2006/relationships/slide" Target="/ppt/slides/slide6.xml" Id="R1e6973a11afd49ae" /><Relationship Type="http://schemas.openxmlformats.org/officeDocument/2006/relationships/slide" Target="/ppt/slides/slide7.xml" Id="R4659693107864509" /><Relationship Type="http://schemas.openxmlformats.org/officeDocument/2006/relationships/slide" Target="/ppt/slides/slide8.xml" Id="R8cb82f8ba43042d5" /><Relationship Type="http://schemas.openxmlformats.org/officeDocument/2006/relationships/slide" Target="/ppt/slides/slide9.xml" Id="R4dd76231054c4891" /><Relationship Type="http://schemas.openxmlformats.org/officeDocument/2006/relationships/slide" Target="/ppt/slides/slide10.xml" Id="R5fe155da00c74670" /><Relationship Type="http://schemas.openxmlformats.org/officeDocument/2006/relationships/slide" Target="/ppt/slides/slide11.xml" Id="R0ee3e57b9e0142c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67883e975f44a3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bef9d4a3b514918" /><Relationship Type="http://schemas.openxmlformats.org/officeDocument/2006/relationships/notesMaster" Target="/ppt/notesMasters/notesMaster1.xml" Id="R92d30f7819634609" /></Relationships>
</file>

<file path=ppt/notesSlides/_rels/notesSlide2.xml.rels>&#65279;<?xml version="1.0" encoding="utf-8"?><Relationships xmlns="http://schemas.openxmlformats.org/package/2006/relationships"><Relationship Type="http://schemas.openxmlformats.org/officeDocument/2006/relationships/slide" Target="/ppt/slides/slide2.xml" Id="R71a7b1ea13e54b4a" /><Relationship Type="http://schemas.openxmlformats.org/officeDocument/2006/relationships/notesMaster" Target="/ppt/notesMasters/notesMaster1.xml" Id="Rbfc8740e40b14908" /></Relationships>
</file>

<file path=ppt/notesSlides/_rels/notesSlide3.xml.rels>&#65279;<?xml version="1.0" encoding="utf-8"?><Relationships xmlns="http://schemas.openxmlformats.org/package/2006/relationships"><Relationship Type="http://schemas.openxmlformats.org/officeDocument/2006/relationships/slide" Target="/ppt/slides/slide3.xml" Id="R46ffbda1d2cc4209" /><Relationship Type="http://schemas.openxmlformats.org/officeDocument/2006/relationships/notesMaster" Target="/ppt/notesMasters/notesMaster1.xml" Id="R964370f06b6e44aa" /></Relationships>
</file>

<file path=ppt/notesSlides/_rels/notesSlide4.xml.rels>&#65279;<?xml version="1.0" encoding="utf-8"?><Relationships xmlns="http://schemas.openxmlformats.org/package/2006/relationships"><Relationship Type="http://schemas.openxmlformats.org/officeDocument/2006/relationships/slide" Target="/ppt/slides/slide4.xml" Id="R06b91c752e954693" /><Relationship Type="http://schemas.openxmlformats.org/officeDocument/2006/relationships/notesMaster" Target="/ppt/notesMasters/notesMaster1.xml" Id="R2e548b185437451d" /></Relationships>
</file>

<file path=ppt/notesSlides/_rels/notesSlide5.xml.rels>&#65279;<?xml version="1.0" encoding="utf-8"?><Relationships xmlns="http://schemas.openxmlformats.org/package/2006/relationships"><Relationship Type="http://schemas.openxmlformats.org/officeDocument/2006/relationships/slide" Target="/ppt/slides/slide5.xml" Id="Rd3dc81188f3746ec" /><Relationship Type="http://schemas.openxmlformats.org/officeDocument/2006/relationships/notesMaster" Target="/ppt/notesMasters/notesMaster1.xml" Id="R8e09014450e04929" /></Relationships>
</file>

<file path=ppt/notesSlides/_rels/notesSlide6.xml.rels>&#65279;<?xml version="1.0" encoding="utf-8"?><Relationships xmlns="http://schemas.openxmlformats.org/package/2006/relationships"><Relationship Type="http://schemas.openxmlformats.org/officeDocument/2006/relationships/slide" Target="/ppt/slides/slide6.xml" Id="R8d0ef35657054c5b" /><Relationship Type="http://schemas.openxmlformats.org/officeDocument/2006/relationships/notesMaster" Target="/ppt/notesMasters/notesMaster1.xml" Id="Refc2ac9b2b634dab" /></Relationships>
</file>

<file path=ppt/notesSlides/_rels/notesSlide7.xml.rels>&#65279;<?xml version="1.0" encoding="utf-8"?><Relationships xmlns="http://schemas.openxmlformats.org/package/2006/relationships"><Relationship Type="http://schemas.openxmlformats.org/officeDocument/2006/relationships/slide" Target="/ppt/slides/slide7.xml" Id="Rb97ab4baf5af46d0" /><Relationship Type="http://schemas.openxmlformats.org/officeDocument/2006/relationships/notesMaster" Target="/ppt/notesMasters/notesMaster1.xml" Id="Rf7ec395824bd46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ab0b45861bb34ef3" /><Relationship Type="http://schemas.openxmlformats.org/officeDocument/2006/relationships/notesMaster" Target="/ppt/notesMasters/notesMaster1.xml" Id="Ra42e89bfa57648ec" /></Relationships>
</file>

<file path=ppt/notesSlides/_rels/notesSlide9.xml.rels>&#65279;<?xml version="1.0" encoding="utf-8"?><Relationships xmlns="http://schemas.openxmlformats.org/package/2006/relationships"><Relationship Type="http://schemas.openxmlformats.org/officeDocument/2006/relationships/slide" Target="/ppt/slides/slide9.xml" Id="R66bf28e763b74c59" /><Relationship Type="http://schemas.openxmlformats.org/officeDocument/2006/relationships/notesMaster" Target="/ppt/notesMasters/notesMaster1.xml" Id="R31d73e6a13d645b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1e9153f7f8e4fba" /><Relationship Type="http://schemas.openxmlformats.org/officeDocument/2006/relationships/notesMaster" Target="/ppt/notesMasters/notesMaster1.xml" Id="Rbccd92c78ff34c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47c73bb6ed24cc8" /><Relationship Type="http://schemas.openxmlformats.org/officeDocument/2006/relationships/notesMaster" Target="/ppt/notesMasters/notesMaster1.xml" Id="R8523a9f3d4c8434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公開されているAgent Skillsの使い方と、設計相談を質問から始めるgrill-meを紹介します。</a:t>
            </a:r>
          </a:p>
          <a:p xmlns:a="http://schemas.openxmlformats.org/drawingml/2006/main">
            <a:r>
              <a:t/>
            </a:r>
          </a:p>
          <a:p xmlns:a="http://schemas.openxmlformats.org/drawingml/2006/main">
            <a:r>
              <a:t>出典</a:t>
            </a:r>
          </a:p>
          <a:p xmlns:a="http://schemas.openxmlformats.org/drawingml/2006/main">
            <a:r>
              <a:t>https://github.com/mattpocock/skills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自作したSkillには、実際のタスクでの動作確認と修正が必要です。Agent Skillsのベストプラクティスは、指示を入れなくてもモデルが実行できるなら、その指示を削ることを勧めています。モデル更新後も以前の手順が必要とは限らない、という部分はその考え方を踏まえた運用上の見立てであり、必ず陳腐化するという意味ではありません。公開Skillも中身の確認と手元での動作確認は必要です。</a:t>
            </a:r>
          </a:p>
          <a:p xmlns:a="http://schemas.openxmlformats.org/drawingml/2006/main">
            <a:r>
              <a:t/>
            </a:r>
          </a:p>
          <a:p xmlns:a="http://schemas.openxmlformats.org/drawingml/2006/main">
            <a:r>
              <a:t>出典</a:t>
            </a:r>
          </a:p>
          <a:p xmlns:a="http://schemas.openxmlformats.org/drawingml/2006/main">
            <a:r>
              <a:t>https://agentskills.io/skill-creation/best-practices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公開されているSkillは、対応するツールに追加して利用できます。ここではGitHub上のmattpocock/skillsを例に紹介しています。追加前に内容を確認し、手元のタスクで動作を確かめます。公開されているため確認や保守が不要という意味ではありません。画像は2026-09-26に取得した公開ページです。</a:t>
            </a:r>
          </a:p>
          <a:p xmlns:a="http://schemas.openxmlformats.org/drawingml/2006/main">
            <a:r>
              <a:t/>
            </a:r>
          </a:p>
          <a:p xmlns:a="http://schemas.openxmlformats.org/drawingml/2006/main">
            <a:r>
              <a:t>出典</a:t>
            </a:r>
          </a:p>
          <a:p xmlns:a="http://schemas.openxmlformats.org/drawingml/2006/main">
            <a:r>
              <a:t>https://github.com/mattpocock/skills</a:t>
            </a:r>
          </a:p>
          <a:p xmlns:a="http://schemas.openxmlformats.org/drawingml/2006/main">
            <a:r>
              <a:t>https://github.com/vercel-labs/skills</a:t>
            </a:r>
          </a:p>
          <a:p xmlns:a="http://schemas.openxmlformats.org/drawingml/2006/main">
            <a:r>
              <a:t>https://github.com/mattpocock/skills/blob/main/LICENSE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ll-meは計画や案について質問するSkillです。grill-with-docsは質問に加えて、用語集や設計判断の記録を作成・更新するSkillです。ここでは違いだけを紹介し、以降の会話例とデモではgrill-meを使います。公開元のMITライセンスは利用・改変・再配布を認めます。配布時には著作権表示とライセンス文を残します。</a:t>
            </a:r>
          </a:p>
          <a:p xmlns:a="http://schemas.openxmlformats.org/drawingml/2006/main">
            <a:r>
              <a:t/>
            </a:r>
          </a:p>
          <a:p xmlns:a="http://schemas.openxmlformats.org/drawingml/2006/main">
            <a:r>
              <a:t>出典</a:t>
            </a:r>
          </a:p>
          <a:p xmlns:a="http://schemas.openxmlformats.org/drawingml/2006/main">
            <a:r>
              <a:t>https://github.com/mattpocock/skills</a:t>
            </a:r>
          </a:p>
          <a:p xmlns:a="http://schemas.openxmlformats.org/drawingml/2006/main">
            <a:r>
              <a:t>https://github.com/mattpocock/skills/blob/main/skills/productivity/grill-me/SKILL.md</a:t>
            </a:r>
          </a:p>
          <a:p xmlns:a="http://schemas.openxmlformats.org/drawingml/2006/main">
            <a:r>
              <a:t>https://github.com/mattpocock/skills/blob/main/skills/engineering/grill-with-docs/SKILL.md</a:t>
            </a:r>
          </a:p>
          <a:p xmlns:a="http://schemas.openxmlformats.org/drawingml/2006/main">
            <a:r>
              <a:t>https://github.com/mattpocock/skills/blob/main/LICENSE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grill-meは現在、grillingを呼び出す短いSkillです。この例では両方をClaude Codeに追加します。コマンドは作業プロジェクト内にSkillファイル等を追加します。導入前にSkillの内容と社内の利用ルールを確認してください。改行に使うバックスラッシュはBash / zshの記法です。PowerShell等では2行を1行につなげて実行できます。呼び出し表記はクライアントによって異なります。今回はgrill-me/grillingの利用に絞っています。</a:t>
            </a:r>
          </a:p>
          <a:p xmlns:a="http://schemas.openxmlformats.org/drawingml/2006/main">
            <a:r>
              <a:t/>
            </a:r>
          </a:p>
          <a:p xmlns:a="http://schemas.openxmlformats.org/drawingml/2006/main">
            <a:r>
              <a:t>出典</a:t>
            </a:r>
          </a:p>
          <a:p xmlns:a="http://schemas.openxmlformats.org/drawingml/2006/main">
            <a:r>
              <a:t>https://github.com/mattpocock/skills</a:t>
            </a:r>
          </a:p>
          <a:p xmlns:a="http://schemas.openxmlformats.org/drawingml/2006/main">
            <a:r>
              <a:t>https://github.com/mattpocock/skills/blob/main/skills/productivity/grill-me/SKILL.md</a:t>
            </a:r>
          </a:p>
          <a:p xmlns:a="http://schemas.openxmlformats.org/drawingml/2006/main">
            <a:r>
              <a:t>https://github.com/mattpocock/skills/blob/main/skills/productivity/grilling/SKILL.md</a:t>
            </a:r>
          </a:p>
          <a:p xmlns:a="http://schemas.openxmlformats.org/drawingml/2006/main">
            <a:r>
              <a:t>https://github.com/vercel-labs/skills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用に作成した会話例です。実行ログではありません。grillingは、前提が決まっていて今答えられる質問をまとめ、各質問に推奨案を付ける指示です。回答に依存する質問は次の回に回します。ここでは方式設計Agentに渡す前の要件詰めに使っています。</a:t>
            </a:r>
          </a:p>
          <a:p xmlns:a="http://schemas.openxmlformats.org/drawingml/2006/main">
            <a:r>
              <a:t/>
            </a:r>
          </a:p>
          <a:p xmlns:a="http://schemas.openxmlformats.org/drawingml/2006/main">
            <a:r>
              <a:t>出典</a:t>
            </a:r>
          </a:p>
          <a:p xmlns:a="http://schemas.openxmlformats.org/drawingml/2006/main">
            <a:r>
              <a:t>https://github.com/mattpocock/skills/blob/main/skills/productivity/grill-me/SKILL.md</a:t>
            </a:r>
          </a:p>
          <a:p xmlns:a="http://schemas.openxmlformats.org/drawingml/2006/main">
            <a:r>
              <a:t>https://github.com/mattpocock/skills/blob/main/skills/productivity/grilling/SKILL.md</a:t>
            </a:r>
          </a:p>
          <a:p xmlns:a="http://schemas.openxmlformats.org/drawingml/2006/main">
            <a:r>
              <a:t>https://github.com/mattpocock/skills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ページから続く説明用の会話例です。接続や認証の前提は架空の設定であり、利用者の本番システムを断定したものではありません。grillingの公開指示には、共通理解に至ったとユーザーが確認するまで作業を進めない、とあります。この時点ですべてのAPI要件が決まったわけではありません。</a:t>
            </a:r>
          </a:p>
          <a:p xmlns:a="http://schemas.openxmlformats.org/drawingml/2006/main">
            <a:r>
              <a:t/>
            </a:r>
          </a:p>
          <a:p xmlns:a="http://schemas.openxmlformats.org/drawingml/2006/main">
            <a:r>
              <a:t>出典</a:t>
            </a:r>
          </a:p>
          <a:p xmlns:a="http://schemas.openxmlformats.org/drawingml/2006/main">
            <a:r>
              <a:t>https://github.com/mattpocock/skills/blob/main/skills/productivity/grilling/SKILL.md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会話例で決めた前提だけを整理しています。grill-meが必ずこの表を出力するという仕様ではありません。表への整理を求めたい場合は、会話の最後に依頼します。方式設計Agentを動かす前に、決まった条件と未確認の点を整理して渡す使い方です。方式設計Agentという呼称は業務上の想定です。質問に答えただけで全要件がそろったという意味ではありません。</a:t>
            </a:r>
          </a:p>
          <a:p xmlns:a="http://schemas.openxmlformats.org/drawingml/2006/main">
            <a:r>
              <a:t/>
            </a:r>
          </a:p>
          <a:p xmlns:a="http://schemas.openxmlformats.org/drawingml/2006/main">
            <a:r>
              <a:t>出典</a:t>
            </a:r>
          </a:p>
          <a:p xmlns:a="http://schemas.openxmlformats.org/drawingml/2006/main">
            <a:r>
              <a:t>https://github.com/mattpocock/skills/blob/main/skills/productivity/grilling/SKILL.md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ここで実際の操作画面に切り替えます。お題は今日の晩ご飯です。</a:t>
            </a:r>
          </a:p>
          <a:p xmlns:a="http://schemas.openxmlformats.org/drawingml/2006/main">
            <a:r>
              <a:t/>
            </a:r>
          </a:p>
          <a:p xmlns:a="http://schemas.openxmlformats.org/drawingml/2006/main">
            <a:r>
              <a:t>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質問の範囲をユーザーの明示指示で狭めたり、判断に必要な情報がなければ保留して調査や検証へ切り替える、という使い方の提案です。grillingの原文はすべての分岐を解決するまで質問するという強い指示のため、LTではこの調整方法も示しています。質問の回数削減や過剰設計防止を確約していません。</a:t>
            </a:r>
          </a:p>
          <a:p xmlns:a="http://schemas.openxmlformats.org/drawingml/2006/main">
            <a:r>
              <a:t/>
            </a:r>
          </a:p>
          <a:p xmlns:a="http://schemas.openxmlformats.org/drawingml/2006/main">
            <a:r>
              <a:t>出典</a:t>
            </a:r>
          </a:p>
          <a:p xmlns:a="http://schemas.openxmlformats.org/drawingml/2006/main">
            <a:r>
              <a:t>https://github.com/mattpocock/skills/blob/main/skills/productivity/grilling/SKILL.md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今回紹介した公開Skillsの一覧、追加方法、2つのSkillの定義へのリンクです。Skillの内容や導入方法は更新されることがあります。</a:t>
            </a:r>
          </a:p>
          <a:p xmlns:a="http://schemas.openxmlformats.org/drawingml/2006/main">
            <a:r>
              <a:t/>
            </a:r>
          </a:p>
          <a:p xmlns:a="http://schemas.openxmlformats.org/drawingml/2006/main">
            <a:r>
              <a:t>出典</a:t>
            </a:r>
          </a:p>
          <a:p xmlns:a="http://schemas.openxmlformats.org/drawingml/2006/main">
            <a:r>
              <a:t>https://github.com/mattpocock/skills</a:t>
            </a:r>
          </a:p>
          <a:p xmlns:a="http://schemas.openxmlformats.org/drawingml/2006/main">
            <a:r>
              <a:t>https://github.com/mattpocock/skills/blob/main/skills/productivity/grill-me/SKILL.md</a:t>
            </a:r>
          </a:p>
          <a:p xmlns:a="http://schemas.openxmlformats.org/drawingml/2006/main">
            <a:r>
              <a:t>https://github.com/mattpocock/skills/blob/main/skills/engineering/grill-with-docs/SKILL.md</a:t>
            </a:r>
          </a:p>
          <a:p xmlns:a="http://schemas.openxmlformats.org/drawingml/2006/main">
            <a:r>
              <a:t>https://github.com/mattpocock/skills/blob/main/LICENSE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976f2e054b14a2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7e3b7cfb624959" /><Relationship Type="http://schemas.openxmlformats.org/officeDocument/2006/relationships/slideLayout" Target="/ppt/slideLayouts/slideLayout1.xml" Id="R527ce637e5034e9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27ce637e5034e9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f9627b7509e4896" /><Relationship Type="http://schemas.openxmlformats.org/officeDocument/2006/relationships/notesSlide" Target="/ppt/notesSlides/notesSlide1.xml" Id="R0b1b9cd3426247c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d18d53771544c92" /><Relationship Type="http://schemas.openxmlformats.org/officeDocument/2006/relationships/notesSlide" Target="/ppt/notesSlides/notesSlide2.xml" Id="R41e9c6dd7dfd42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2eb12c3d61c4356" /><Relationship Type="http://schemas.openxmlformats.org/officeDocument/2006/relationships/image" Target="/ppt/media/image.jpeg" Id="R58b004f50f8641ae" /><Relationship Type="http://schemas.openxmlformats.org/officeDocument/2006/relationships/hyperlink" Target="https://github.com/mattpocock/skills" TargetMode="External" Id="Rbcd66dfe465943fc" /><Relationship Type="http://schemas.openxmlformats.org/officeDocument/2006/relationships/notesSlide" Target="/ppt/notesSlides/notesSlide3.xml" Id="R050c7ca1a63e4c9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8d4c901a8b444f9" /><Relationship Type="http://schemas.openxmlformats.org/officeDocument/2006/relationships/hyperlink" Target="https://github.com/mattpocock/skills" TargetMode="External" Id="Redc2f1e803cc4241" /><Relationship Type="http://schemas.openxmlformats.org/officeDocument/2006/relationships/notesSlide" Target="/ppt/notesSlides/notesSlide4.xml" Id="Rc4ff26bcc7e04d1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48b8bbddd9f4dd7" /><Relationship Type="http://schemas.openxmlformats.org/officeDocument/2006/relationships/notesSlide" Target="/ppt/notesSlides/notesSlide5.xml" Id="Re53e483d1ee8455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75957c16b6748b7" /><Relationship Type="http://schemas.openxmlformats.org/officeDocument/2006/relationships/notesSlide" Target="/ppt/notesSlides/notesSlide6.xml" Id="Ra4d19d55fbcf40f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c8c6be7390247b8" /><Relationship Type="http://schemas.openxmlformats.org/officeDocument/2006/relationships/notesSlide" Target="/ppt/notesSlides/notesSlide7.xml" Id="Rd850d819fd2343c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1e3ec796a5a43cc" /><Relationship Type="http://schemas.openxmlformats.org/officeDocument/2006/relationships/notesSlide" Target="/ppt/notesSlides/notesSlide8.xml" Id="R361b3bdabda7431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aa6c06a9e184c3c" /><Relationship Type="http://schemas.openxmlformats.org/officeDocument/2006/relationships/notesSlide" Target="/ppt/notesSlides/notesSlide9.xml" Id="R5e3d948d30074eb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508dd68d18142c4" /><Relationship Type="http://schemas.openxmlformats.org/officeDocument/2006/relationships/notesSlide" Target="/ppt/notesSlides/notesSlide10.xml" Id="R6f12faa615124e0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ac29a8220e84180" /><Relationship Type="http://schemas.openxmlformats.org/officeDocument/2006/relationships/hyperlink" Target="https://github.com/mattpocock/skills" TargetMode="External" Id="R01790fd762514520" /><Relationship Type="http://schemas.openxmlformats.org/officeDocument/2006/relationships/hyperlink" Target="https://github.com/mattpocock/skills/blob/main/skills/productivity/grill-me/SKILL.md" TargetMode="External" Id="R0008c01098ae4201" /><Relationship Type="http://schemas.openxmlformats.org/officeDocument/2006/relationships/hyperlink" Target="https://github.com/mattpocock/skills/blob/main/skills/engineering/grill-with-docs/SKILL.md" TargetMode="External" Id="Rb6b273c3ad654768" /><Relationship Type="http://schemas.openxmlformats.org/officeDocument/2006/relationships/notesSlide" Target="/ppt/notesSlides/notesSlide11.xml" Id="R1fc4d13456aa499b" /></Relationships>
</file>

<file path=ppt/slides/slide1.xml><?xml version="1.0" encoding="utf-8"?>
<p:sld xmlns:p="http://schemas.openxmlformats.org/presentationml/2006/main">
  <p:cSld>
    <p:bg>
      <p:bgPr>
        <a:solidFill xmlns:a="http://schemas.openxmlformats.org/drawingml/2006/main">
          <a:srgbClr val="142638"/>
        </a:solidFill>
      </p:bgPr>
    </p:bg>
    <p:spTree>
      <p:nvGrpSpPr>
        <p:cNvPr id="1" name=""/>
        <p:cNvGrpSpPr/>
        <p:nvPr/>
      </p:nvGrpSpPr>
      <p:grpSpPr>
        <a:xfrm xmlns:a="http://schemas.openxmlformats.org/drawingml/2006/main"/>
      </p:grpSpPr>
      <p:sp>
        <p:nvSpPr>
          <p:cNvPr id="6" name="01">
            <a:extLst xmlns:a="http://schemas.openxmlformats.org/drawingml/2006/main">
              <a:ext uri="{FF2B5EF4-FFF2-40B4-BE49-F238E27FC236}">
                <a16:creationId xmlns:a16="http://schemas.microsoft.com/office/drawing/2014/main" id="{726E0B61-EACC-43EC-BE78-3FF61731F951}"/>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A6B7C8"/>
                </a:solidFill>
                <a:latin typeface="Noto Sans JP"/>
                <a:ea typeface="Noto Sans JP"/>
                <a:cs typeface="Noto Sans JP"/>
              </a:defRPr>
            </a:pPr>
            <a:r>
              <a:rPr sz="1200" b="0">
                <a:solidFill>
                  <a:srgbClr val="A6B7C8"/>
                </a:solidFill>
                <a:latin typeface="Noto Sans JP"/>
                <a:ea typeface="Noto Sans JP"/>
                <a:cs typeface="Noto Sans JP"/>
              </a:rPr>
              <a:t>01</a:t>
            </a:r>
          </a:p>
        </p:txBody>
      </p:sp>
      <p:sp>
        <p:nvSpPr>
          <p:cNvPr id="2" name="社内LT">
            <a:extLst xmlns:a="http://schemas.openxmlformats.org/drawingml/2006/main">
              <a:ext uri="{FF2B5EF4-FFF2-40B4-BE49-F238E27FC236}">
                <a16:creationId xmlns:a16="http://schemas.microsoft.com/office/drawing/2014/main" id="{457A5620-6FA7-4BAE-A349-D344D84B0AF0}"/>
              </a:ext>
            </a:extLst>
          </p:cNvPr>
          <p:cNvSpPr>
            <a:spLocks xmlns:a="http://schemas.openxmlformats.org/drawingml/2006/main" noGrp="1"/>
          </p:cNvSpPr>
          <p:nvPr/>
        </p:nvSpPr>
        <p:spPr>
          <a:xfrm xmlns:a="http://schemas.openxmlformats.org/drawingml/2006/main">
            <a:off x="685800" y="600075"/>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8AD8D4"/>
                </a:solidFill>
                <a:latin typeface="Noto Sans JP"/>
                <a:ea typeface="Noto Sans JP"/>
                <a:cs typeface="Noto Sans JP"/>
              </a:defRPr>
            </a:pPr>
            <a:r>
              <a:rPr sz="1650" b="0">
                <a:solidFill>
                  <a:srgbClr val="8AD8D4"/>
                </a:solidFill>
                <a:latin typeface="Noto Sans JP"/>
                <a:ea typeface="Noto Sans JP"/>
                <a:cs typeface="Noto Sans JP"/>
              </a:rPr>
              <a:t>社内LT</a:t>
            </a:r>
          </a:p>
        </p:txBody>
      </p:sp>
      <p:sp>
        <p:nvSpPr>
          <p:cNvPr id="3" name="公開されている">
            <a:extLst xmlns:a="http://schemas.openxmlformats.org/drawingml/2006/main">
              <a:ext uri="{FF2B5EF4-FFF2-40B4-BE49-F238E27FC236}">
                <a16:creationId xmlns:a16="http://schemas.microsoft.com/office/drawing/2014/main" id="{07C3B611-0A87-4E02-8A19-7C39015BAF7B}"/>
              </a:ext>
            </a:extLst>
          </p:cNvPr>
          <p:cNvSpPr>
            <a:spLocks xmlns:a="http://schemas.openxmlformats.org/drawingml/2006/main" noGrp="1"/>
          </p:cNvSpPr>
          <p:nvPr/>
        </p:nvSpPr>
        <p:spPr>
          <a:xfrm xmlns:a="http://schemas.openxmlformats.org/drawingml/2006/main">
            <a:off x="685800" y="1666875"/>
            <a:ext cx="108204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4800" b="1">
                <a:solidFill>
                  <a:srgbClr val="FFFFFF"/>
                </a:solidFill>
                <a:latin typeface="Noto Sans JP"/>
                <a:ea typeface="Noto Sans JP"/>
                <a:cs typeface="Noto Sans JP"/>
              </a:defRPr>
            </a:pPr>
            <a:r>
              <a:rPr sz="4800" b="1">
                <a:solidFill>
                  <a:srgbClr val="FFFFFF"/>
                </a:solidFill>
                <a:latin typeface="Noto Sans JP"/>
                <a:ea typeface="Noto Sans JP"/>
                <a:cs typeface="Noto Sans JP"/>
              </a:rPr>
              <a:t>公開されている</a:t>
            </a:r>
          </a:p>
        </p:txBody>
      </p:sp>
      <p:sp>
        <p:nvSpPr>
          <p:cNvPr id="4" name="Agent Skillsを使ってみる">
            <a:extLst xmlns:a="http://schemas.openxmlformats.org/drawingml/2006/main">
              <a:ext uri="{FF2B5EF4-FFF2-40B4-BE49-F238E27FC236}">
                <a16:creationId xmlns:a16="http://schemas.microsoft.com/office/drawing/2014/main" id="{1B5BA8CD-2FDB-4619-994E-9B42009AC528}"/>
              </a:ext>
            </a:extLst>
          </p:cNvPr>
          <p:cNvSpPr>
            <a:spLocks xmlns:a="http://schemas.openxmlformats.org/drawingml/2006/main" noGrp="1"/>
          </p:cNvSpPr>
          <p:nvPr/>
        </p:nvSpPr>
        <p:spPr>
          <a:xfrm xmlns:a="http://schemas.openxmlformats.org/drawingml/2006/main">
            <a:off x="685800" y="272415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5550" b="1">
                <a:solidFill>
                  <a:srgbClr val="FFFFFF"/>
                </a:solidFill>
                <a:latin typeface="Noto Sans JP"/>
                <a:ea typeface="Noto Sans JP"/>
                <a:cs typeface="Noto Sans JP"/>
              </a:defRPr>
            </a:pPr>
            <a:r>
              <a:rPr sz="5550" b="1">
                <a:solidFill>
                  <a:srgbClr val="FFFFFF"/>
                </a:solidFill>
                <a:latin typeface="Noto Sans JP"/>
                <a:ea typeface="Noto Sans JP"/>
                <a:cs typeface="Noto Sans JP"/>
              </a:rPr>
              <a:t>Agent Skillsを使ってみる</a:t>
            </a:r>
          </a:p>
        </p:txBody>
      </p:sp>
      <p:sp>
        <p:nvSpPr>
          <p:cNvPr id="5" name="grill-meの紹介">
            <a:extLst xmlns:a="http://schemas.openxmlformats.org/drawingml/2006/main">
              <a:ext uri="{FF2B5EF4-FFF2-40B4-BE49-F238E27FC236}">
                <a16:creationId xmlns:a16="http://schemas.microsoft.com/office/drawing/2014/main" id="{5372C925-77CC-4CF3-80BB-D21E80DD3944}"/>
              </a:ext>
            </a:extLst>
          </p:cNvPr>
          <p:cNvSpPr>
            <a:spLocks xmlns:a="http://schemas.openxmlformats.org/drawingml/2006/main" noGrp="1"/>
          </p:cNvSpPr>
          <p:nvPr/>
        </p:nvSpPr>
        <p:spPr>
          <a:xfrm xmlns:a="http://schemas.openxmlformats.org/drawingml/2006/main">
            <a:off x="733425" y="466725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250" b="0">
                <a:solidFill>
                  <a:srgbClr val="8AD8D4"/>
                </a:solidFill>
                <a:latin typeface="Noto Sans JP"/>
                <a:ea typeface="Noto Sans JP"/>
                <a:cs typeface="Noto Sans JP"/>
              </a:defRPr>
            </a:pPr>
            <a:r>
              <a:rPr sz="2250" b="0">
                <a:solidFill>
                  <a:srgbClr val="8AD8D4"/>
                </a:solidFill>
                <a:latin typeface="Noto Sans JP"/>
                <a:ea typeface="Noto Sans JP"/>
                <a:cs typeface="Noto Sans JP"/>
              </a:rPr>
              <a:t>grill-meの紹介</a:t>
            </a:r>
          </a:p>
        </p:txBody>
      </p:sp>
    </p:spTree>
    <p:extLst>
      <p:ext uri="{BB962C8B-B14F-4D97-AF65-F5344CB8AC3E}">
        <p14:creationId xmlns:p14="http://schemas.microsoft.com/office/powerpoint/2010/main" val="792413010"/>
      </p:ext>
    </p:extLst>
  </p:cSld>
</p:sld>
</file>

<file path=ppt/slides/slide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Skills、自分で作り込んでいませんか？">
            <a:extLst xmlns:a="http://schemas.openxmlformats.org/drawingml/2006/main">
              <a:ext uri="{FF2B5EF4-FFF2-40B4-BE49-F238E27FC236}">
                <a16:creationId xmlns:a16="http://schemas.microsoft.com/office/drawing/2014/main" id="{49CA2628-BDF8-4239-83F3-CE6C98CE009E}"/>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Skills、自分で作り込んでいませんか？</a:t>
            </a:r>
          </a:p>
        </p:txBody>
      </p:sp>
      <p:sp>
        <p:nvSpPr>
          <p:cNvPr id="2" name="02">
            <a:extLst xmlns:a="http://schemas.openxmlformats.org/drawingml/2006/main">
              <a:ext uri="{FF2B5EF4-FFF2-40B4-BE49-F238E27FC236}">
                <a16:creationId xmlns:a16="http://schemas.microsoft.com/office/drawing/2014/main" id="{75EA8EAF-EEE2-4EA2-888C-537C0A5854CD}"/>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02</a:t>
            </a:r>
          </a:p>
        </p:txBody>
      </p:sp>
      <p:sp>
        <p:nvSpPr>
          <p:cNvPr id="3" name="モデルが変わったら、指示も見直す">
            <a:extLst xmlns:a="http://schemas.openxmlformats.org/drawingml/2006/main">
              <a:ext uri="{FF2B5EF4-FFF2-40B4-BE49-F238E27FC236}">
                <a16:creationId xmlns:a16="http://schemas.microsoft.com/office/drawing/2014/main" id="{97C6C1C6-0F54-4399-A80C-75E0F296C047}"/>
              </a:ext>
            </a:extLst>
          </p:cNvPr>
          <p:cNvSpPr>
            <a:spLocks xmlns:a="http://schemas.openxmlformats.org/drawingml/2006/main" noGrp="1"/>
          </p:cNvSpPr>
          <p:nvPr/>
        </p:nvSpPr>
        <p:spPr>
          <a:xfrm xmlns:a="http://schemas.openxmlformats.org/drawingml/2006/main">
            <a:off x="638175" y="1952625"/>
            <a:ext cx="10810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550" b="1">
                <a:solidFill>
                  <a:srgbClr val="17283A"/>
                </a:solidFill>
                <a:latin typeface="Noto Sans JP"/>
                <a:ea typeface="Noto Sans JP"/>
                <a:cs typeface="Noto Sans JP"/>
              </a:defRPr>
            </a:pPr>
            <a:r>
              <a:rPr sz="2550" b="1">
                <a:solidFill>
                  <a:srgbClr val="17283A"/>
                </a:solidFill>
                <a:latin typeface="Noto Sans JP"/>
                <a:ea typeface="Noto Sans JP"/>
                <a:cs typeface="Noto Sans JP"/>
              </a:rPr>
              <a:t>モデルが変わったら、指示も見直す</a:t>
            </a:r>
          </a:p>
        </p:txBody>
      </p:sp>
      <p:sp>
        <p:nvSpPr>
          <p:cNvPr id="4" name="以前のモデル向けに足した手順が、&#10;更新後も必要とは限らない。">
            <a:extLst xmlns:a="http://schemas.openxmlformats.org/drawingml/2006/main">
              <a:ext uri="{FF2B5EF4-FFF2-40B4-BE49-F238E27FC236}">
                <a16:creationId xmlns:a16="http://schemas.microsoft.com/office/drawing/2014/main" id="{BB04FCCD-5C07-453B-BE81-D7BA9EF4E750}"/>
              </a:ext>
            </a:extLst>
          </p:cNvPr>
          <p:cNvSpPr>
            <a:spLocks xmlns:a="http://schemas.openxmlformats.org/drawingml/2006/main" noGrp="1"/>
          </p:cNvSpPr>
          <p:nvPr/>
        </p:nvSpPr>
        <p:spPr>
          <a:xfrm xmlns:a="http://schemas.openxmlformats.org/drawingml/2006/main">
            <a:off x="638175" y="2628900"/>
            <a:ext cx="1081087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40000"/>
              </a:lnSpc>
              <a:buNone/>
              <a:defRPr sz="2175" b="0">
                <a:solidFill>
                  <a:srgbClr val="526375"/>
                </a:solidFill>
                <a:latin typeface="Noto Sans JP"/>
                <a:ea typeface="Noto Sans JP"/>
                <a:cs typeface="Noto Sans JP"/>
              </a:defRPr>
            </a:pPr>
            <a:r>
              <a:rPr sz="2175" b="0">
                <a:solidFill>
                  <a:srgbClr val="526375"/>
                </a:solidFill>
                <a:latin typeface="Noto Sans JP"/>
                <a:ea typeface="Noto Sans JP"/>
                <a:cs typeface="Noto Sans JP"/>
              </a:rPr>
              <a:t>以前のモデル向けに足した手順が、</a:t>
            </a:r>
          </a:p>
          <a:p xmlns:a="http://schemas.openxmlformats.org/drawingml/2006/main">
            <a:pPr>
              <a:lnSpc>
                <a:spcPct val="140000"/>
              </a:lnSpc>
              <a:buNone/>
              <a:defRPr sz="2175" b="0">
                <a:solidFill>
                  <a:srgbClr val="526375"/>
                </a:solidFill>
                <a:latin typeface="Noto Sans JP"/>
                <a:ea typeface="Noto Sans JP"/>
                <a:cs typeface="Noto Sans JP"/>
              </a:defRPr>
            </a:pPr>
            <a:r>
              <a:rPr sz="2175" b="0">
                <a:solidFill>
                  <a:srgbClr val="526375"/>
                </a:solidFill>
                <a:latin typeface="Noto Sans JP"/>
                <a:ea typeface="Noto Sans JP"/>
                <a:cs typeface="Noto Sans JP"/>
              </a:rPr>
              <a:t>更新後も必要とは限らない。</a:t>
            </a:r>
          </a:p>
        </p:txBody>
      </p:sp>
      <p:sp>
        <p:nvSpPr>
          <p:cNvPr id="5" name="作ったあとも、動作確認と修正が続く">
            <a:extLst xmlns:a="http://schemas.openxmlformats.org/drawingml/2006/main">
              <a:ext uri="{FF2B5EF4-FFF2-40B4-BE49-F238E27FC236}">
                <a16:creationId xmlns:a16="http://schemas.microsoft.com/office/drawing/2014/main" id="{D47B4523-EF2A-4DC6-A7C5-7A0F08E3538A}"/>
              </a:ext>
            </a:extLst>
          </p:cNvPr>
          <p:cNvSpPr>
            <a:spLocks xmlns:a="http://schemas.openxmlformats.org/drawingml/2006/main" noGrp="1"/>
          </p:cNvSpPr>
          <p:nvPr/>
        </p:nvSpPr>
        <p:spPr>
          <a:xfrm xmlns:a="http://schemas.openxmlformats.org/drawingml/2006/main">
            <a:off x="638175" y="4105275"/>
            <a:ext cx="10810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550" b="1">
                <a:solidFill>
                  <a:srgbClr val="17283A"/>
                </a:solidFill>
                <a:latin typeface="Noto Sans JP"/>
                <a:ea typeface="Noto Sans JP"/>
                <a:cs typeface="Noto Sans JP"/>
              </a:defRPr>
            </a:pPr>
            <a:r>
              <a:rPr sz="2550" b="1">
                <a:solidFill>
                  <a:srgbClr val="17283A"/>
                </a:solidFill>
                <a:latin typeface="Noto Sans JP"/>
                <a:ea typeface="Noto Sans JP"/>
                <a:cs typeface="Noto Sans JP"/>
              </a:rPr>
              <a:t>作ったあとも、動作確認と修正が続く</a:t>
            </a:r>
          </a:p>
        </p:txBody>
      </p:sp>
      <p:sp>
        <p:nvSpPr>
          <p:cNvPr id="6" name="指示を足すたびに、別のタスクでも使えるか確かめる。">
            <a:extLst xmlns:a="http://schemas.openxmlformats.org/drawingml/2006/main">
              <a:ext uri="{FF2B5EF4-FFF2-40B4-BE49-F238E27FC236}">
                <a16:creationId xmlns:a16="http://schemas.microsoft.com/office/drawing/2014/main" id="{4F38C8E8-D374-4AE7-8275-13CD37CF70AC}"/>
              </a:ext>
            </a:extLst>
          </p:cNvPr>
          <p:cNvSpPr>
            <a:spLocks xmlns:a="http://schemas.openxmlformats.org/drawingml/2006/main" noGrp="1"/>
          </p:cNvSpPr>
          <p:nvPr/>
        </p:nvSpPr>
        <p:spPr>
          <a:xfrm xmlns:a="http://schemas.openxmlformats.org/drawingml/2006/main">
            <a:off x="638175" y="4791075"/>
            <a:ext cx="10810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526375"/>
                </a:solidFill>
                <a:latin typeface="Noto Sans JP"/>
                <a:ea typeface="Noto Sans JP"/>
                <a:cs typeface="Noto Sans JP"/>
              </a:defRPr>
            </a:pPr>
            <a:r>
              <a:rPr sz="2175" b="0">
                <a:solidFill>
                  <a:srgbClr val="526375"/>
                </a:solidFill>
                <a:latin typeface="Noto Sans JP"/>
                <a:ea typeface="Noto Sans JP"/>
                <a:cs typeface="Noto Sans JP"/>
              </a:rPr>
              <a:t>指示を足すたびに、別のタスクでも使えるか確かめる。</a:t>
            </a:r>
          </a:p>
        </p:txBody>
      </p:sp>
      <p:sp>
        <p:nvSpPr>
          <p:cNvPr id="7" name="自作する前に、公開Skillsも探してみる。">
            <a:extLst xmlns:a="http://schemas.openxmlformats.org/drawingml/2006/main">
              <a:ext uri="{FF2B5EF4-FFF2-40B4-BE49-F238E27FC236}">
                <a16:creationId xmlns:a16="http://schemas.microsoft.com/office/drawing/2014/main" id="{C18E1385-95E8-4A27-B15C-7F1B8DF9F65B}"/>
              </a:ext>
            </a:extLst>
          </p:cNvPr>
          <p:cNvSpPr>
            <a:spLocks xmlns:a="http://schemas.openxmlformats.org/drawingml/2006/main" noGrp="1"/>
          </p:cNvSpPr>
          <p:nvPr/>
        </p:nvSpPr>
        <p:spPr>
          <a:xfrm xmlns:a="http://schemas.openxmlformats.org/drawingml/2006/main">
            <a:off x="638175" y="5934075"/>
            <a:ext cx="1081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250" b="1">
                <a:solidFill>
                  <a:srgbClr val="145AB0"/>
                </a:solidFill>
                <a:latin typeface="Noto Sans JP"/>
                <a:ea typeface="Noto Sans JP"/>
                <a:cs typeface="Noto Sans JP"/>
              </a:defRPr>
            </a:pPr>
            <a:r>
              <a:rPr sz="2250" b="1">
                <a:solidFill>
                  <a:srgbClr val="145AB0"/>
                </a:solidFill>
                <a:latin typeface="Noto Sans JP"/>
                <a:ea typeface="Noto Sans JP"/>
                <a:cs typeface="Noto Sans JP"/>
              </a:rPr>
              <a:t>自作する前に、公開Skillsも探してみる。</a:t>
            </a:r>
          </a:p>
        </p:txBody>
      </p:sp>
    </p:spTree>
    <p:extLst>
      <p:ext uri="{BB962C8B-B14F-4D97-AF65-F5344CB8AC3E}">
        <p14:creationId xmlns:p14="http://schemas.microsoft.com/office/powerpoint/2010/main" val="1991425264"/>
      </p:ext>
    </p:extLst>
  </p:cSld>
</p:sld>
</file>

<file path=ppt/slides/slide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公開されているSkillsも使える">
            <a:extLst xmlns:a="http://schemas.openxmlformats.org/drawingml/2006/main">
              <a:ext uri="{FF2B5EF4-FFF2-40B4-BE49-F238E27FC236}">
                <a16:creationId xmlns:a16="http://schemas.microsoft.com/office/drawing/2014/main" id="{D0B8C1A8-FEE0-4875-91C8-340345B0A7D2}"/>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公開されているSkillsも使える</a:t>
            </a:r>
          </a:p>
        </p:txBody>
      </p:sp>
      <p:sp>
        <p:nvSpPr>
          <p:cNvPr id="2" name="03">
            <a:extLst xmlns:a="http://schemas.openxmlformats.org/drawingml/2006/main">
              <a:ext uri="{FF2B5EF4-FFF2-40B4-BE49-F238E27FC236}">
                <a16:creationId xmlns:a16="http://schemas.microsoft.com/office/drawing/2014/main" id="{5B25439D-53B6-4CC7-84BC-C0E939DF64F3}"/>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03</a:t>
            </a:r>
          </a:p>
        </p:txBody>
      </p:sp>
      <p:sp>
        <p:nvSpPr>
          <p:cNvPr id="3" name="GitHubなどで公開されているSkillを&#10;Claude Codeなどに追加し">
            <a:extLst xmlns:a="http://schemas.openxmlformats.org/drawingml/2006/main">
              <a:ext uri="{FF2B5EF4-FFF2-40B4-BE49-F238E27FC236}">
                <a16:creationId xmlns:a16="http://schemas.microsoft.com/office/drawing/2014/main" id="{F5C94AA1-8DF6-45A7-861A-98FA6E80FA3F}"/>
              </a:ext>
            </a:extLst>
          </p:cNvPr>
          <p:cNvSpPr>
            <a:spLocks xmlns:a="http://schemas.openxmlformats.org/drawingml/2006/main" noGrp="1"/>
          </p:cNvSpPr>
          <p:nvPr/>
        </p:nvSpPr>
        <p:spPr>
          <a:xfrm xmlns:a="http://schemas.openxmlformats.org/drawingml/2006/main">
            <a:off x="638175" y="2057400"/>
            <a:ext cx="53721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45000"/>
              </a:lnSpc>
              <a:buNone/>
              <a:defRPr sz="2250" b="1">
                <a:solidFill>
                  <a:srgbClr val="17283A"/>
                </a:solidFill>
                <a:latin typeface="Noto Sans JP"/>
                <a:ea typeface="Noto Sans JP"/>
                <a:cs typeface="Noto Sans JP"/>
              </a:defRPr>
            </a:pPr>
            <a:r>
              <a:rPr sz="2250" b="1">
                <a:solidFill>
                  <a:srgbClr val="17283A"/>
                </a:solidFill>
                <a:latin typeface="Noto Sans JP"/>
                <a:ea typeface="Noto Sans JP"/>
                <a:cs typeface="Noto Sans JP"/>
              </a:rPr>
              <a:t>GitHubなどで公開されているSkillを</a:t>
            </a:r>
          </a:p>
          <a:p xmlns:a="http://schemas.openxmlformats.org/drawingml/2006/main">
            <a:pPr>
              <a:lnSpc>
                <a:spcPct val="145000"/>
              </a:lnSpc>
              <a:buNone/>
              <a:defRPr sz="2250" b="1">
                <a:solidFill>
                  <a:srgbClr val="17283A"/>
                </a:solidFill>
                <a:latin typeface="Noto Sans JP"/>
                <a:ea typeface="Noto Sans JP"/>
                <a:cs typeface="Noto Sans JP"/>
              </a:defRPr>
            </a:pPr>
            <a:r>
              <a:rPr sz="2250" b="1">
                <a:solidFill>
                  <a:srgbClr val="17283A"/>
                </a:solidFill>
                <a:latin typeface="Noto Sans JP"/>
                <a:ea typeface="Noto Sans JP"/>
                <a:cs typeface="Noto Sans JP"/>
              </a:rPr>
              <a:t>Claude Codeなどに追加して使える。</a:t>
            </a:r>
          </a:p>
        </p:txBody>
      </p:sp>
      <p:sp>
        <p:nvSpPr>
          <p:cNvPr id="4" name="手順を一から書かずに、&#10;公開されているものを試せる。">
            <a:extLst xmlns:a="http://schemas.openxmlformats.org/drawingml/2006/main">
              <a:ext uri="{FF2B5EF4-FFF2-40B4-BE49-F238E27FC236}">
                <a16:creationId xmlns:a16="http://schemas.microsoft.com/office/drawing/2014/main" id="{EBEE663A-6807-4C73-8178-FE1F18CD3EEF}"/>
              </a:ext>
            </a:extLst>
          </p:cNvPr>
          <p:cNvSpPr>
            <a:spLocks xmlns:a="http://schemas.openxmlformats.org/drawingml/2006/main" noGrp="1"/>
          </p:cNvSpPr>
          <p:nvPr/>
        </p:nvSpPr>
        <p:spPr>
          <a:xfrm xmlns:a="http://schemas.openxmlformats.org/drawingml/2006/main">
            <a:off x="638175" y="3933825"/>
            <a:ext cx="53149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50000"/>
              </a:lnSpc>
              <a:buNone/>
              <a:defRPr sz="2175" b="0">
                <a:solidFill>
                  <a:srgbClr val="17283A"/>
                </a:solidFill>
                <a:latin typeface="Noto Sans JP"/>
                <a:ea typeface="Noto Sans JP"/>
                <a:cs typeface="Noto Sans JP"/>
              </a:defRPr>
            </a:pPr>
            <a:r>
              <a:rPr sz="2175" b="0">
                <a:solidFill>
                  <a:srgbClr val="17283A"/>
                </a:solidFill>
                <a:latin typeface="Noto Sans JP"/>
                <a:ea typeface="Noto Sans JP"/>
                <a:cs typeface="Noto Sans JP"/>
              </a:rPr>
              <a:t>手順を一から書かずに、</a:t>
            </a:r>
          </a:p>
          <a:p xmlns:a="http://schemas.openxmlformats.org/drawingml/2006/main">
            <a:pPr>
              <a:lnSpc>
                <a:spcPct val="150000"/>
              </a:lnSpc>
              <a:buNone/>
              <a:defRPr sz="2175" b="0">
                <a:solidFill>
                  <a:srgbClr val="17283A"/>
                </a:solidFill>
                <a:latin typeface="Noto Sans JP"/>
                <a:ea typeface="Noto Sans JP"/>
                <a:cs typeface="Noto Sans JP"/>
              </a:defRPr>
            </a:pPr>
            <a:r>
              <a:rPr sz="2175" b="0">
                <a:solidFill>
                  <a:srgbClr val="17283A"/>
                </a:solidFill>
                <a:latin typeface="Noto Sans JP"/>
                <a:ea typeface="Noto Sans JP"/>
                <a:cs typeface="Noto Sans JP"/>
              </a:rPr>
              <a:t>公開されているものを試せる。</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58b004f50f8641ae"/>
          <a:stretch xmlns:a="http://schemas.openxmlformats.org/drawingml/2006/main"/>
        </p:blipFill>
        <p:spPr>
          <a:xfrm xmlns:a="http://schemas.openxmlformats.org/drawingml/2006/main">
            <a:off x="6365786" y="1752600"/>
            <a:ext cx="5213528" cy="3581400"/>
          </a:xfrm>
          <a:prstGeom xmlns:a="http://schemas.openxmlformats.org/drawingml/2006/main" prst="rect">
            <a:avLst/>
          </a:prstGeom>
        </p:spPr>
      </p:pic>
      <p:sp>
        <p:nvSpPr>
          <p:cNvPr id="6" name="追加前に内容を確認し、手元のタスクで試す。">
            <a:extLst xmlns:a="http://schemas.openxmlformats.org/drawingml/2006/main">
              <a:ext uri="{FF2B5EF4-FFF2-40B4-BE49-F238E27FC236}">
                <a16:creationId xmlns:a16="http://schemas.microsoft.com/office/drawing/2014/main" id="{3114BE7D-2410-4C9C-A327-B4E319055723}"/>
              </a:ext>
            </a:extLst>
          </p:cNvPr>
          <p:cNvSpPr>
            <a:spLocks xmlns:a="http://schemas.openxmlformats.org/drawingml/2006/main" noGrp="1"/>
          </p:cNvSpPr>
          <p:nvPr/>
        </p:nvSpPr>
        <p:spPr>
          <a:xfrm xmlns:a="http://schemas.openxmlformats.org/drawingml/2006/main">
            <a:off x="638175" y="5772150"/>
            <a:ext cx="10810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725" b="0">
                <a:solidFill>
                  <a:srgbClr val="526375"/>
                </a:solidFill>
                <a:latin typeface="Noto Sans JP"/>
                <a:ea typeface="Noto Sans JP"/>
                <a:cs typeface="Noto Sans JP"/>
              </a:defRPr>
            </a:pPr>
            <a:r>
              <a:rPr sz="1725" b="0">
                <a:solidFill>
                  <a:srgbClr val="526375"/>
                </a:solidFill>
                <a:latin typeface="Noto Sans JP"/>
                <a:ea typeface="Noto Sans JP"/>
                <a:cs typeface="Noto Sans JP"/>
              </a:rPr>
              <a:t>追加前に内容を確認し、手元のタスクで試す。</a:t>
            </a:r>
          </a:p>
        </p:txBody>
      </p:sp>
      <p:sp>
        <p:nvSpPr>
          <p:cNvPr id="7" name="公開例：Matt Pocock / mattpocock/skills（MITラ">
            <a:extLst xmlns:a="http://schemas.openxmlformats.org/drawingml/2006/main">
              <a:ext uri="{FF2B5EF4-FFF2-40B4-BE49-F238E27FC236}">
                <a16:creationId xmlns:a16="http://schemas.microsoft.com/office/drawing/2014/main" id="{78FEDD9B-2105-42B1-A12B-2460930A41DB}"/>
              </a:ext>
            </a:extLst>
          </p:cNvPr>
          <p:cNvSpPr>
            <a:spLocks xmlns:a="http://schemas.openxmlformats.org/drawingml/2006/main" noGrp="1"/>
          </p:cNvSpPr>
          <p:nvPr/>
        </p:nvSpPr>
        <p:spPr>
          <a:xfrm xmlns:a="http://schemas.openxmlformats.org/drawingml/2006/main">
            <a:off x="638175" y="62388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350" b="0">
                <a:solidFill>
                  <a:srgbClr val="526375"/>
                </a:solidFill>
                <a:latin typeface="Noto Sans JP"/>
                <a:ea typeface="Noto Sans JP"/>
                <a:cs typeface="Noto Sans JP"/>
              </a:defRPr>
            </a:pPr>
            <a:r>
              <a:rPr sz="1350" b="0">
                <a:solidFill>
                  <a:srgbClr val="526375"/>
                </a:solidFill>
                <a:latin typeface="Noto Sans JP"/>
                <a:ea typeface="Noto Sans JP"/>
                <a:cs typeface="Noto Sans JP"/>
                <a:hlinkClick xmlns:r="http://schemas.openxmlformats.org/officeDocument/2006/relationships" r:id="Rbcd66dfe465943fc"/>
              </a:rPr>
              <a:t>公開例：Matt Pocock / mattpocock/skills（MITライセンス）</a:t>
            </a:r>
          </a:p>
        </p:txBody>
      </p:sp>
    </p:spTree>
    <p:extLst>
      <p:ext uri="{BB962C8B-B14F-4D97-AF65-F5344CB8AC3E}">
        <p14:creationId xmlns:p14="http://schemas.microsoft.com/office/powerpoint/2010/main" val="2027752513"/>
      </p:ext>
    </p:extLst>
  </p:cSld>
</p:sld>
</file>

<file path=ppt/slides/slide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7" name="grill-me">
            <a:extLst xmlns:a="http://schemas.openxmlformats.org/drawingml/2006/main">
              <a:ext uri="{FF2B5EF4-FFF2-40B4-BE49-F238E27FC236}">
                <a16:creationId xmlns:a16="http://schemas.microsoft.com/office/drawing/2014/main" id="{ACA5A1EA-82A4-4D40-9D23-7892B49A6262}"/>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grill-me</a:t>
            </a:r>
          </a:p>
        </p:txBody>
      </p:sp>
      <p:sp>
        <p:nvSpPr>
          <p:cNvPr id="2" name="04">
            <a:extLst xmlns:a="http://schemas.openxmlformats.org/drawingml/2006/main">
              <a:ext uri="{FF2B5EF4-FFF2-40B4-BE49-F238E27FC236}">
                <a16:creationId xmlns:a16="http://schemas.microsoft.com/office/drawing/2014/main" id="{F1C646FA-7739-4422-BAE7-550B4839DA98}"/>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04</a:t>
            </a:r>
          </a:p>
        </p:txBody>
      </p:sp>
      <p:sp>
        <p:nvSpPr>
          <p:cNvPr id="3" name="質問に答えながら、曖昧な点や&#10;抜けている条件を確認する。">
            <a:extLst xmlns:a="http://schemas.openxmlformats.org/drawingml/2006/main">
              <a:ext uri="{FF2B5EF4-FFF2-40B4-BE49-F238E27FC236}">
                <a16:creationId xmlns:a16="http://schemas.microsoft.com/office/drawing/2014/main" id="{F1BB2873-43CA-4088-9646-5966E49FA296}"/>
              </a:ext>
            </a:extLst>
          </p:cNvPr>
          <p:cNvSpPr>
            <a:spLocks xmlns:a="http://schemas.openxmlformats.org/drawingml/2006/main" noGrp="1"/>
          </p:cNvSpPr>
          <p:nvPr/>
        </p:nvSpPr>
        <p:spPr>
          <a:xfrm xmlns:a="http://schemas.openxmlformats.org/drawingml/2006/main">
            <a:off x="638175" y="1952625"/>
            <a:ext cx="1081087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45000"/>
              </a:lnSpc>
              <a:buNone/>
              <a:defRPr sz="2850" b="1">
                <a:solidFill>
                  <a:srgbClr val="17283A"/>
                </a:solidFill>
                <a:latin typeface="Noto Sans JP"/>
                <a:ea typeface="Noto Sans JP"/>
                <a:cs typeface="Noto Sans JP"/>
              </a:defRPr>
            </a:pPr>
            <a:r>
              <a:rPr sz="2850" b="1">
                <a:solidFill>
                  <a:srgbClr val="17283A"/>
                </a:solidFill>
                <a:latin typeface="Noto Sans JP"/>
                <a:ea typeface="Noto Sans JP"/>
                <a:cs typeface="Noto Sans JP"/>
              </a:rPr>
              <a:t>質問に答えながら、曖昧な点や</a:t>
            </a:r>
          </a:p>
          <a:p xmlns:a="http://schemas.openxmlformats.org/drawingml/2006/main">
            <a:pPr>
              <a:lnSpc>
                <a:spcPct val="145000"/>
              </a:lnSpc>
              <a:buNone/>
              <a:defRPr sz="2850" b="1">
                <a:solidFill>
                  <a:srgbClr val="17283A"/>
                </a:solidFill>
                <a:latin typeface="Noto Sans JP"/>
                <a:ea typeface="Noto Sans JP"/>
                <a:cs typeface="Noto Sans JP"/>
              </a:defRPr>
            </a:pPr>
            <a:r>
              <a:rPr sz="2850" b="1">
                <a:solidFill>
                  <a:srgbClr val="17283A"/>
                </a:solidFill>
                <a:latin typeface="Noto Sans JP"/>
                <a:ea typeface="Noto Sans JP"/>
                <a:cs typeface="Noto Sans JP"/>
              </a:rPr>
              <a:t>抜けている条件を確認する。</a:t>
            </a:r>
          </a:p>
        </p:txBody>
      </p:sp>
      <p:sp>
        <p:nvSpPr>
          <p:cNvPr id="4" name="文書にも残したいときは grill-with-docs">
            <a:extLst xmlns:a="http://schemas.openxmlformats.org/drawingml/2006/main">
              <a:ext uri="{FF2B5EF4-FFF2-40B4-BE49-F238E27FC236}">
                <a16:creationId xmlns:a16="http://schemas.microsoft.com/office/drawing/2014/main" id="{FCEC04ED-962F-41BD-8AF9-6FEE4BF8475E}"/>
              </a:ext>
            </a:extLst>
          </p:cNvPr>
          <p:cNvSpPr>
            <a:spLocks xmlns:a="http://schemas.openxmlformats.org/drawingml/2006/main" noGrp="1"/>
          </p:cNvSpPr>
          <p:nvPr/>
        </p:nvSpPr>
        <p:spPr>
          <a:xfrm xmlns:a="http://schemas.openxmlformats.org/drawingml/2006/main">
            <a:off x="638175" y="4400550"/>
            <a:ext cx="108108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400" b="1">
                <a:solidFill>
                  <a:srgbClr val="145AB0"/>
                </a:solidFill>
                <a:latin typeface="Noto Sans JP"/>
                <a:ea typeface="Noto Sans JP"/>
                <a:cs typeface="Noto Sans JP"/>
              </a:defRPr>
            </a:pPr>
            <a:r>
              <a:rPr sz="2400" b="1">
                <a:solidFill>
                  <a:srgbClr val="145AB0"/>
                </a:solidFill>
                <a:latin typeface="Noto Sans JP"/>
                <a:ea typeface="Noto Sans JP"/>
                <a:cs typeface="Noto Sans JP"/>
              </a:rPr>
              <a:t>文書にも残したいときは grill-with-docs</a:t>
            </a:r>
          </a:p>
        </p:txBody>
      </p:sp>
      <p:sp>
        <p:nvSpPr>
          <p:cNvPr id="5" name="質問に加えて、用語や設計判断も文書に残す。">
            <a:extLst xmlns:a="http://schemas.openxmlformats.org/drawingml/2006/main">
              <a:ext uri="{FF2B5EF4-FFF2-40B4-BE49-F238E27FC236}">
                <a16:creationId xmlns:a16="http://schemas.microsoft.com/office/drawing/2014/main" id="{9F11333B-82A9-4DAD-A2EE-73A08A735B11}"/>
              </a:ext>
            </a:extLst>
          </p:cNvPr>
          <p:cNvSpPr>
            <a:spLocks xmlns:a="http://schemas.openxmlformats.org/drawingml/2006/main" noGrp="1"/>
          </p:cNvSpPr>
          <p:nvPr/>
        </p:nvSpPr>
        <p:spPr>
          <a:xfrm xmlns:a="http://schemas.openxmlformats.org/drawingml/2006/main">
            <a:off x="638175" y="5124450"/>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526375"/>
                </a:solidFill>
                <a:latin typeface="Noto Sans JP"/>
                <a:ea typeface="Noto Sans JP"/>
                <a:cs typeface="Noto Sans JP"/>
              </a:defRPr>
            </a:pPr>
            <a:r>
              <a:rPr sz="2175" b="0">
                <a:solidFill>
                  <a:srgbClr val="526375"/>
                </a:solidFill>
                <a:latin typeface="Noto Sans JP"/>
                <a:ea typeface="Noto Sans JP"/>
                <a:cs typeface="Noto Sans JP"/>
              </a:rPr>
              <a:t>質問に加えて、用語や設計判断も文書に残す。</a:t>
            </a:r>
          </a:p>
        </p:txBody>
      </p:sp>
      <p:sp>
        <p:nvSpPr>
          <p:cNvPr id="6" name="出典：Matt Pocock / mattpocock/skills（MITライ">
            <a:extLst xmlns:a="http://schemas.openxmlformats.org/drawingml/2006/main">
              <a:ext uri="{FF2B5EF4-FFF2-40B4-BE49-F238E27FC236}">
                <a16:creationId xmlns:a16="http://schemas.microsoft.com/office/drawing/2014/main" id="{B1025DC8-CC20-4027-BC32-13338A20B844}"/>
              </a:ext>
            </a:extLst>
          </p:cNvPr>
          <p:cNvSpPr>
            <a:spLocks xmlns:a="http://schemas.openxmlformats.org/drawingml/2006/main" noGrp="1"/>
          </p:cNvSpPr>
          <p:nvPr/>
        </p:nvSpPr>
        <p:spPr>
          <a:xfrm xmlns:a="http://schemas.openxmlformats.org/drawingml/2006/main">
            <a:off x="638175" y="62388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350" b="0">
                <a:solidFill>
                  <a:srgbClr val="526375"/>
                </a:solidFill>
                <a:latin typeface="Noto Sans JP"/>
                <a:ea typeface="Noto Sans JP"/>
                <a:cs typeface="Noto Sans JP"/>
              </a:defRPr>
            </a:pPr>
            <a:r>
              <a:rPr sz="1350" b="0">
                <a:solidFill>
                  <a:srgbClr val="526375"/>
                </a:solidFill>
                <a:latin typeface="Noto Sans JP"/>
                <a:ea typeface="Noto Sans JP"/>
                <a:cs typeface="Noto Sans JP"/>
                <a:hlinkClick xmlns:r="http://schemas.openxmlformats.org/officeDocument/2006/relationships" r:id="Redc2f1e803cc4241"/>
              </a:rPr>
              <a:t>出典：Matt Pocock / mattpocock/skills（MITライセンス）</a:t>
            </a:r>
          </a:p>
        </p:txBody>
      </p:sp>
    </p:spTree>
    <p:extLst>
      <p:ext uri="{BB962C8B-B14F-4D97-AF65-F5344CB8AC3E}">
        <p14:creationId xmlns:p14="http://schemas.microsoft.com/office/powerpoint/2010/main" val="1951735795"/>
      </p:ext>
    </p:extLst>
  </p:cSld>
</p:sld>
</file>

<file path=ppt/slides/slide5.xml><?xml version="1.0" encoding="utf-8"?>
<p:sld xmlns:p="http://schemas.openxmlformats.org/presentationml/2006/main">
  <p:cSld>
    <p:bg>
      <p:bgPr>
        <a:solidFill xmlns:a="http://schemas.openxmlformats.org/drawingml/2006/main">
          <a:srgbClr val="142638"/>
        </a:solidFill>
      </p:bgPr>
    </p:bg>
    <p:spTree>
      <p:nvGrpSpPr>
        <p:cNvPr id="1" name=""/>
        <p:cNvGrpSpPr/>
        <p:nvPr/>
      </p:nvGrpSpPr>
      <p:grpSpPr>
        <a:xfrm xmlns:a="http://schemas.openxmlformats.org/drawingml/2006/main"/>
      </p:grpSpPr>
      <p:sp>
        <p:nvSpPr>
          <p:cNvPr id="10" name="grill-me の追加と呼び出し">
            <a:extLst xmlns:a="http://schemas.openxmlformats.org/drawingml/2006/main">
              <a:ext uri="{FF2B5EF4-FFF2-40B4-BE49-F238E27FC236}">
                <a16:creationId xmlns:a16="http://schemas.microsoft.com/office/drawing/2014/main" id="{F0A44894-0833-4837-878D-58EDCC3156B6}"/>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FFFFFF"/>
                </a:solidFill>
                <a:latin typeface="Noto Sans JP"/>
                <a:ea typeface="Noto Sans JP"/>
                <a:cs typeface="Noto Sans JP"/>
              </a:defRPr>
            </a:pPr>
            <a:r>
              <a:rPr sz="3450" b="1">
                <a:solidFill>
                  <a:srgbClr val="FFFFFF"/>
                </a:solidFill>
                <a:latin typeface="Noto Sans JP"/>
                <a:ea typeface="Noto Sans JP"/>
                <a:cs typeface="Noto Sans JP"/>
              </a:rPr>
              <a:t>grill-me の追加と呼び出し</a:t>
            </a:r>
          </a:p>
        </p:txBody>
      </p:sp>
      <p:sp>
        <p:nvSpPr>
          <p:cNvPr id="2" name="05">
            <a:extLst xmlns:a="http://schemas.openxmlformats.org/drawingml/2006/main">
              <a:ext uri="{FF2B5EF4-FFF2-40B4-BE49-F238E27FC236}">
                <a16:creationId xmlns:a16="http://schemas.microsoft.com/office/drawing/2014/main" id="{F9C80C3E-679E-4B17-8F86-05407A24BA46}"/>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A6B7C8"/>
                </a:solidFill>
                <a:latin typeface="Noto Sans JP"/>
                <a:ea typeface="Noto Sans JP"/>
                <a:cs typeface="Noto Sans JP"/>
              </a:defRPr>
            </a:pPr>
            <a:r>
              <a:rPr sz="1200" b="0">
                <a:solidFill>
                  <a:srgbClr val="A6B7C8"/>
                </a:solidFill>
                <a:latin typeface="Noto Sans JP"/>
                <a:ea typeface="Noto Sans JP"/>
                <a:cs typeface="Noto Sans JP"/>
              </a:rPr>
              <a:t>05</a:t>
            </a:r>
          </a:p>
        </p:txBody>
      </p:sp>
      <p:sp>
        <p:nvSpPr>
          <p:cNvPr id="3" name="例：Claude Code（コマンドはBash / zsh）">
            <a:extLst xmlns:a="http://schemas.openxmlformats.org/drawingml/2006/main">
              <a:ext uri="{FF2B5EF4-FFF2-40B4-BE49-F238E27FC236}">
                <a16:creationId xmlns:a16="http://schemas.microsoft.com/office/drawing/2014/main" id="{4DFCD8D1-9AC1-4809-8E9A-6CEDE80C3E3E}"/>
              </a:ext>
            </a:extLst>
          </p:cNvPr>
          <p:cNvSpPr>
            <a:spLocks xmlns:a="http://schemas.openxmlformats.org/drawingml/2006/main" noGrp="1"/>
          </p:cNvSpPr>
          <p:nvPr/>
        </p:nvSpPr>
        <p:spPr>
          <a:xfrm xmlns:a="http://schemas.openxmlformats.org/drawingml/2006/main">
            <a:off x="638175" y="1276350"/>
            <a:ext cx="10477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8AD8D4"/>
                </a:solidFill>
                <a:latin typeface="Noto Sans JP"/>
                <a:ea typeface="Noto Sans JP"/>
                <a:cs typeface="Noto Sans JP"/>
              </a:defRPr>
            </a:pPr>
            <a:r>
              <a:rPr sz="1650" b="0">
                <a:solidFill>
                  <a:srgbClr val="8AD8D4"/>
                </a:solidFill>
                <a:latin typeface="Noto Sans JP"/>
                <a:ea typeface="Noto Sans JP"/>
                <a:cs typeface="Noto Sans JP"/>
              </a:rPr>
              <a:t>例：Claude Code（コマンドはBash / zsh）</a:t>
            </a:r>
          </a:p>
        </p:txBody>
      </p:sp>
      <p:sp>
        <p:nvSpPr>
          <p:cNvPr id="4" name="1   作業フォルダーで追加する">
            <a:extLst xmlns:a="http://schemas.openxmlformats.org/drawingml/2006/main">
              <a:ext uri="{FF2B5EF4-FFF2-40B4-BE49-F238E27FC236}">
                <a16:creationId xmlns:a16="http://schemas.microsoft.com/office/drawing/2014/main" id="{64DB8F33-D416-4437-B40F-91D067AA7105}"/>
              </a:ext>
            </a:extLst>
          </p:cNvPr>
          <p:cNvSpPr>
            <a:spLocks xmlns:a="http://schemas.openxmlformats.org/drawingml/2006/main" noGrp="1"/>
          </p:cNvSpPr>
          <p:nvPr/>
        </p:nvSpPr>
        <p:spPr>
          <a:xfrm xmlns:a="http://schemas.openxmlformats.org/drawingml/2006/main">
            <a:off x="638175" y="1914525"/>
            <a:ext cx="1047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1">
                <a:solidFill>
                  <a:srgbClr val="FFFFFF"/>
                </a:solidFill>
                <a:latin typeface="Noto Sans JP"/>
                <a:ea typeface="Noto Sans JP"/>
                <a:cs typeface="Noto Sans JP"/>
              </a:defRPr>
            </a:pPr>
            <a:r>
              <a:rPr sz="2025" b="1">
                <a:solidFill>
                  <a:srgbClr val="FFFFFF"/>
                </a:solidFill>
                <a:latin typeface="Noto Sans JP"/>
                <a:ea typeface="Noto Sans JP"/>
                <a:cs typeface="Noto Sans JP"/>
              </a:rPr>
              <a:t>1   作業フォルダーで追加する</a:t>
            </a:r>
          </a:p>
        </p:txBody>
      </p:sp>
      <p:sp>
        <p:nvSpPr>
          <p:cNvPr id="5" name="npx skills@latest add mattpocock/skills ">
            <a:extLst xmlns:a="http://schemas.openxmlformats.org/drawingml/2006/main">
              <a:ext uri="{FF2B5EF4-FFF2-40B4-BE49-F238E27FC236}">
                <a16:creationId xmlns:a16="http://schemas.microsoft.com/office/drawing/2014/main" id="{A91D3C64-DCDA-46DE-A501-682C7A39C47C}"/>
              </a:ext>
            </a:extLst>
          </p:cNvPr>
          <p:cNvSpPr>
            <a:spLocks xmlns:a="http://schemas.openxmlformats.org/drawingml/2006/main" noGrp="1"/>
          </p:cNvSpPr>
          <p:nvPr/>
        </p:nvSpPr>
        <p:spPr>
          <a:xfrm xmlns:a="http://schemas.openxmlformats.org/drawingml/2006/main">
            <a:off x="914400" y="2514600"/>
            <a:ext cx="106203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35000"/>
              </a:lnSpc>
              <a:buNone/>
              <a:defRPr sz="1950" b="0">
                <a:solidFill>
                  <a:srgbClr val="8AD8D4"/>
                </a:solidFill>
                <a:latin typeface="DejaVu Sans Mono"/>
                <a:ea typeface="DejaVu Sans Mono"/>
                <a:cs typeface="DejaVu Sans Mono"/>
              </a:defRPr>
            </a:pPr>
            <a:r>
              <a:rPr sz="1950" b="0">
                <a:solidFill>
                  <a:srgbClr val="8AD8D4"/>
                </a:solidFill>
                <a:latin typeface="DejaVu Sans Mono"/>
                <a:ea typeface="DejaVu Sans Mono"/>
                <a:cs typeface="DejaVu Sans Mono"/>
              </a:rPr>
              <a:t>npx skills@latest add mattpocock/skills \</a:t>
            </a:r>
          </a:p>
          <a:p xmlns:a="http://schemas.openxmlformats.org/drawingml/2006/main">
            <a:pPr>
              <a:lnSpc>
                <a:spcPct val="135000"/>
              </a:lnSpc>
              <a:buNone/>
              <a:defRPr sz="1950" b="0">
                <a:solidFill>
                  <a:srgbClr val="8AD8D4"/>
                </a:solidFill>
                <a:latin typeface="DejaVu Sans Mono"/>
                <a:ea typeface="DejaVu Sans Mono"/>
                <a:cs typeface="DejaVu Sans Mono"/>
              </a:defRPr>
            </a:pPr>
            <a:r>
              <a:rPr sz="1950" b="0">
                <a:solidFill>
                  <a:srgbClr val="8AD8D4"/>
                </a:solidFill>
                <a:latin typeface="DejaVu Sans Mono"/>
                <a:ea typeface="DejaVu Sans Mono"/>
                <a:cs typeface="DejaVu Sans Mono"/>
              </a:rPr>
              <a:t>  --skill grill-me grilling --agent claude-code</a:t>
            </a:r>
          </a:p>
        </p:txBody>
      </p:sp>
      <p:sp>
        <p:nvSpPr>
          <p:cNvPr id="6" name="2   Claude Codeのチャットで呼び出す">
            <a:extLst xmlns:a="http://schemas.openxmlformats.org/drawingml/2006/main">
              <a:ext uri="{FF2B5EF4-FFF2-40B4-BE49-F238E27FC236}">
                <a16:creationId xmlns:a16="http://schemas.microsoft.com/office/drawing/2014/main" id="{D4DBC9B8-8052-4318-9EA7-C295384A215D}"/>
              </a:ext>
            </a:extLst>
          </p:cNvPr>
          <p:cNvSpPr>
            <a:spLocks xmlns:a="http://schemas.openxmlformats.org/drawingml/2006/main" noGrp="1"/>
          </p:cNvSpPr>
          <p:nvPr/>
        </p:nvSpPr>
        <p:spPr>
          <a:xfrm xmlns:a="http://schemas.openxmlformats.org/drawingml/2006/main">
            <a:off x="638175" y="3733800"/>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1">
                <a:solidFill>
                  <a:srgbClr val="FFFFFF"/>
                </a:solidFill>
                <a:latin typeface="Noto Sans JP"/>
                <a:ea typeface="Noto Sans JP"/>
                <a:cs typeface="Noto Sans JP"/>
              </a:defRPr>
            </a:pPr>
            <a:r>
              <a:rPr sz="2025" b="1">
                <a:solidFill>
                  <a:srgbClr val="FFFFFF"/>
                </a:solidFill>
                <a:latin typeface="Noto Sans JP"/>
                <a:ea typeface="Noto Sans JP"/>
                <a:cs typeface="Noto Sans JP"/>
              </a:rPr>
              <a:t>2   Claude Codeのチャットで呼び出す</a:t>
            </a:r>
          </a:p>
        </p:txBody>
      </p:sp>
      <p:sp>
        <p:nvSpPr>
          <p:cNvPr id="7" name="/grill-me">
            <a:extLst xmlns:a="http://schemas.openxmlformats.org/drawingml/2006/main">
              <a:ext uri="{FF2B5EF4-FFF2-40B4-BE49-F238E27FC236}">
                <a16:creationId xmlns:a16="http://schemas.microsoft.com/office/drawing/2014/main" id="{47A409FA-D24C-4B36-A40B-B9B20D97FFEF}"/>
              </a:ext>
            </a:extLst>
          </p:cNvPr>
          <p:cNvSpPr>
            <a:spLocks xmlns:a="http://schemas.openxmlformats.org/drawingml/2006/main" noGrp="1"/>
          </p:cNvSpPr>
          <p:nvPr/>
        </p:nvSpPr>
        <p:spPr>
          <a:xfrm xmlns:a="http://schemas.openxmlformats.org/drawingml/2006/main">
            <a:off x="914400" y="4371975"/>
            <a:ext cx="1028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475" b="1">
                <a:solidFill>
                  <a:srgbClr val="8AD8D4"/>
                </a:solidFill>
                <a:latin typeface="DejaVu Sans Mono"/>
                <a:ea typeface="DejaVu Sans Mono"/>
                <a:cs typeface="DejaVu Sans Mono"/>
              </a:defRPr>
            </a:pPr>
            <a:r>
              <a:rPr sz="2475" b="1">
                <a:solidFill>
                  <a:srgbClr val="8AD8D4"/>
                </a:solidFill>
                <a:latin typeface="DejaVu Sans Mono"/>
                <a:ea typeface="DejaVu Sans Mono"/>
                <a:cs typeface="DejaVu Sans Mono"/>
              </a:rPr>
              <a:t>/grill-me</a:t>
            </a:r>
          </a:p>
        </p:txBody>
      </p:sp>
      <p:sp>
        <p:nvSpPr>
          <p:cNvPr id="8" name="Azure Functionsで社内向けAPIを作りたいです。&#10;方式設計Agen">
            <a:extLst xmlns:a="http://schemas.openxmlformats.org/drawingml/2006/main">
              <a:ext uri="{FF2B5EF4-FFF2-40B4-BE49-F238E27FC236}">
                <a16:creationId xmlns:a16="http://schemas.microsoft.com/office/drawing/2014/main" id="{4C00BF00-D2A3-439E-AA18-053EAEC0B035}"/>
              </a:ext>
            </a:extLst>
          </p:cNvPr>
          <p:cNvSpPr>
            <a:spLocks xmlns:a="http://schemas.openxmlformats.org/drawingml/2006/main" noGrp="1"/>
          </p:cNvSpPr>
          <p:nvPr/>
        </p:nvSpPr>
        <p:spPr>
          <a:xfrm xmlns:a="http://schemas.openxmlformats.org/drawingml/2006/main">
            <a:off x="914400" y="4867275"/>
            <a:ext cx="10382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35000"/>
              </a:lnSpc>
              <a:buNone/>
              <a:defRPr sz="2100" b="0">
                <a:solidFill>
                  <a:srgbClr val="FFFFFF"/>
                </a:solidFill>
                <a:latin typeface="Noto Sans JP"/>
                <a:ea typeface="Noto Sans JP"/>
                <a:cs typeface="Noto Sans JP"/>
              </a:defRPr>
            </a:pPr>
            <a:r>
              <a:rPr sz="2100" b="0">
                <a:solidFill>
                  <a:srgbClr val="FFFFFF"/>
                </a:solidFill>
                <a:latin typeface="Noto Sans JP"/>
                <a:ea typeface="Noto Sans JP"/>
                <a:cs typeface="Noto Sans JP"/>
              </a:rPr>
              <a:t>Azure Functionsで社内向けAPIを作りたいです。</a:t>
            </a:r>
          </a:p>
          <a:p xmlns:a="http://schemas.openxmlformats.org/drawingml/2006/main">
            <a:pPr>
              <a:lnSpc>
                <a:spcPct val="135000"/>
              </a:lnSpc>
              <a:buNone/>
              <a:defRPr sz="2100" b="0">
                <a:solidFill>
                  <a:srgbClr val="FFFFFF"/>
                </a:solidFill>
                <a:latin typeface="Noto Sans JP"/>
                <a:ea typeface="Noto Sans JP"/>
                <a:cs typeface="Noto Sans JP"/>
              </a:defRPr>
            </a:pPr>
            <a:r>
              <a:rPr sz="2100" b="0">
                <a:solidFill>
                  <a:srgbClr val="FFFFFF"/>
                </a:solidFill>
                <a:latin typeface="Noto Sans JP"/>
                <a:ea typeface="Noto Sans JP"/>
                <a:cs typeface="Noto Sans JP"/>
              </a:rPr>
              <a:t>方式設計Agentに渡す前に、利用者と接続・認証を詰めたいです。</a:t>
            </a:r>
          </a:p>
        </p:txBody>
      </p:sp>
      <p:sp>
        <p:nvSpPr>
          <p:cNvPr id="9" name="Node.js / npm が必要です。grilling は grill-me ">
            <a:extLst xmlns:a="http://schemas.openxmlformats.org/drawingml/2006/main">
              <a:ext uri="{FF2B5EF4-FFF2-40B4-BE49-F238E27FC236}">
                <a16:creationId xmlns:a16="http://schemas.microsoft.com/office/drawing/2014/main" id="{44170E13-112A-4131-BE1A-7E175F305996}"/>
              </a:ext>
            </a:extLst>
          </p:cNvPr>
          <p:cNvSpPr>
            <a:spLocks xmlns:a="http://schemas.openxmlformats.org/drawingml/2006/main" noGrp="1"/>
          </p:cNvSpPr>
          <p:nvPr/>
        </p:nvSpPr>
        <p:spPr>
          <a:xfrm xmlns:a="http://schemas.openxmlformats.org/drawingml/2006/main">
            <a:off x="638175" y="6143625"/>
            <a:ext cx="1071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75" b="0">
                <a:solidFill>
                  <a:srgbClr val="BAC9D7"/>
                </a:solidFill>
                <a:latin typeface="Noto Sans JP"/>
                <a:ea typeface="Noto Sans JP"/>
                <a:cs typeface="Noto Sans JP"/>
              </a:defRPr>
            </a:pPr>
            <a:r>
              <a:rPr sz="1275" b="0">
                <a:solidFill>
                  <a:srgbClr val="BAC9D7"/>
                </a:solidFill>
                <a:latin typeface="Noto Sans JP"/>
                <a:ea typeface="Noto Sans JP"/>
                <a:cs typeface="Noto Sans JP"/>
              </a:rPr>
              <a:t>Node.js / npm が必要です。grilling は grill-me が内部で使うSkillです。</a:t>
            </a:r>
          </a:p>
        </p:txBody>
      </p:sp>
    </p:spTree>
    <p:extLst>
      <p:ext uri="{BB962C8B-B14F-4D97-AF65-F5344CB8AC3E}">
        <p14:creationId xmlns:p14="http://schemas.microsoft.com/office/powerpoint/2010/main" val="1461115574"/>
      </p:ext>
    </p:extLst>
  </p:cSld>
</p:sld>
</file>

<file path=ppt/slides/slide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2" name="grill-me の会話例">
            <a:extLst xmlns:a="http://schemas.openxmlformats.org/drawingml/2006/main">
              <a:ext uri="{FF2B5EF4-FFF2-40B4-BE49-F238E27FC236}">
                <a16:creationId xmlns:a16="http://schemas.microsoft.com/office/drawing/2014/main" id="{687F0C1F-C485-43B4-AB2E-0FC2F1297C19}"/>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grill-me の会話例</a:t>
            </a:r>
          </a:p>
        </p:txBody>
      </p:sp>
      <p:sp>
        <p:nvSpPr>
          <p:cNvPr id="2" name="06">
            <a:extLst xmlns:a="http://schemas.openxmlformats.org/drawingml/2006/main">
              <a:ext uri="{FF2B5EF4-FFF2-40B4-BE49-F238E27FC236}">
                <a16:creationId xmlns:a16="http://schemas.microsoft.com/office/drawing/2014/main" id="{0E9A702A-EC65-460E-B34A-BB8D4FBB292E}"/>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06</a:t>
            </a:r>
          </a:p>
        </p:txBody>
      </p:sp>
      <p:sp>
        <p:nvSpPr>
          <p:cNvPr id="3" name="質問に推奨案も付くので、回答を考えやすい。">
            <a:extLst xmlns:a="http://schemas.openxmlformats.org/drawingml/2006/main">
              <a:ext uri="{FF2B5EF4-FFF2-40B4-BE49-F238E27FC236}">
                <a16:creationId xmlns:a16="http://schemas.microsoft.com/office/drawing/2014/main" id="{18DCDE12-0F3E-4919-BCA9-DF650451E778}"/>
              </a:ext>
            </a:extLst>
          </p:cNvPr>
          <p:cNvSpPr>
            <a:spLocks xmlns:a="http://schemas.openxmlformats.org/drawingml/2006/main" noGrp="1"/>
          </p:cNvSpPr>
          <p:nvPr/>
        </p:nvSpPr>
        <p:spPr>
          <a:xfrm xmlns:a="http://schemas.openxmlformats.org/drawingml/2006/main">
            <a:off x="638175" y="1304925"/>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00" b="0">
                <a:solidFill>
                  <a:srgbClr val="526375"/>
                </a:solidFill>
                <a:latin typeface="Noto Sans JP"/>
                <a:ea typeface="Noto Sans JP"/>
                <a:cs typeface="Noto Sans JP"/>
              </a:defRPr>
            </a:pPr>
            <a:r>
              <a:rPr sz="2100" b="0">
                <a:solidFill>
                  <a:srgbClr val="526375"/>
                </a:solidFill>
                <a:latin typeface="Noto Sans JP"/>
                <a:ea typeface="Noto Sans JP"/>
                <a:cs typeface="Noto Sans JP"/>
              </a:rPr>
              <a:t>質問に推奨案も付くので、回答を考えやすい。</a:t>
            </a:r>
          </a:p>
        </p:txBody>
      </p:sp>
      <p:sp>
        <p:nvSpPr>
          <p:cNvPr id="4" name="AI">
            <a:extLst xmlns:a="http://schemas.openxmlformats.org/drawingml/2006/main">
              <a:ext uri="{FF2B5EF4-FFF2-40B4-BE49-F238E27FC236}">
                <a16:creationId xmlns:a16="http://schemas.microsoft.com/office/drawing/2014/main" id="{4B153022-9F9C-4187-B9B5-C17A5088C4FF}"/>
              </a:ext>
            </a:extLst>
          </p:cNvPr>
          <p:cNvSpPr>
            <a:spLocks xmlns:a="http://schemas.openxmlformats.org/drawingml/2006/main" noGrp="1"/>
          </p:cNvSpPr>
          <p:nvPr/>
        </p:nvSpPr>
        <p:spPr>
          <a:xfrm xmlns:a="http://schemas.openxmlformats.org/drawingml/2006/main">
            <a:off x="638175" y="21431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00" b="1">
                <a:solidFill>
                  <a:srgbClr val="145AB0"/>
                </a:solidFill>
                <a:latin typeface="Noto Sans JP"/>
                <a:ea typeface="Noto Sans JP"/>
                <a:cs typeface="Noto Sans JP"/>
              </a:defRPr>
            </a:pPr>
            <a:r>
              <a:rPr sz="1800" b="1">
                <a:solidFill>
                  <a:srgbClr val="145AB0"/>
                </a:solidFill>
                <a:latin typeface="Noto Sans JP"/>
                <a:ea typeface="Noto Sans JP"/>
                <a:cs typeface="Noto Sans JP"/>
              </a:rPr>
              <a:t>AI</a:t>
            </a:r>
          </a:p>
        </p:txBody>
      </p:sp>
      <p:sp>
        <p:nvSpPr>
          <p:cNvPr id="5" name="Q1  誰がAPIを使いますか？">
            <a:extLst xmlns:a="http://schemas.openxmlformats.org/drawingml/2006/main">
              <a:ext uri="{FF2B5EF4-FFF2-40B4-BE49-F238E27FC236}">
                <a16:creationId xmlns:a16="http://schemas.microsoft.com/office/drawing/2014/main" id="{3D73D93B-696B-4823-9194-6396BD89EE63}"/>
              </a:ext>
            </a:extLst>
          </p:cNvPr>
          <p:cNvSpPr>
            <a:spLocks xmlns:a="http://schemas.openxmlformats.org/drawingml/2006/main" noGrp="1"/>
          </p:cNvSpPr>
          <p:nvPr/>
        </p:nvSpPr>
        <p:spPr>
          <a:xfrm xmlns:a="http://schemas.openxmlformats.org/drawingml/2006/main">
            <a:off x="1533525" y="2057400"/>
            <a:ext cx="98583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475" b="1">
                <a:solidFill>
                  <a:srgbClr val="17283A"/>
                </a:solidFill>
                <a:latin typeface="Noto Sans JP"/>
                <a:ea typeface="Noto Sans JP"/>
                <a:cs typeface="Noto Sans JP"/>
              </a:defRPr>
            </a:pPr>
            <a:r>
              <a:rPr sz="2475" b="1">
                <a:solidFill>
                  <a:srgbClr val="17283A"/>
                </a:solidFill>
                <a:latin typeface="Noto Sans JP"/>
                <a:ea typeface="Noto Sans JP"/>
                <a:cs typeface="Noto Sans JP"/>
              </a:rPr>
              <a:t>Q1  誰がAPIを使いますか？</a:t>
            </a:r>
          </a:p>
        </p:txBody>
      </p:sp>
      <p:sp>
        <p:nvSpPr>
          <p:cNvPr id="6" name="推奨案：まずは社内の担当者に絞る。">
            <a:extLst xmlns:a="http://schemas.openxmlformats.org/drawingml/2006/main">
              <a:ext uri="{FF2B5EF4-FFF2-40B4-BE49-F238E27FC236}">
                <a16:creationId xmlns:a16="http://schemas.microsoft.com/office/drawing/2014/main" id="{34ABB630-7104-478B-86A0-6ED16B67DF8C}"/>
              </a:ext>
            </a:extLst>
          </p:cNvPr>
          <p:cNvSpPr>
            <a:spLocks xmlns:a="http://schemas.openxmlformats.org/drawingml/2006/main" noGrp="1"/>
          </p:cNvSpPr>
          <p:nvPr/>
        </p:nvSpPr>
        <p:spPr>
          <a:xfrm xmlns:a="http://schemas.openxmlformats.org/drawingml/2006/main">
            <a:off x="1533525" y="2609850"/>
            <a:ext cx="9858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526375"/>
                </a:solidFill>
                <a:latin typeface="Noto Sans JP"/>
                <a:ea typeface="Noto Sans JP"/>
                <a:cs typeface="Noto Sans JP"/>
              </a:defRPr>
            </a:pPr>
            <a:r>
              <a:rPr sz="1950" b="0">
                <a:solidFill>
                  <a:srgbClr val="526375"/>
                </a:solidFill>
                <a:latin typeface="Noto Sans JP"/>
                <a:ea typeface="Noto Sans JP"/>
                <a:cs typeface="Noto Sans JP"/>
              </a:rPr>
              <a:t>推奨案：まずは社内の担当者に絞る。</a:t>
            </a:r>
          </a:p>
        </p:txBody>
      </p:sp>
      <p:sp>
        <p:nvSpPr>
          <p:cNvPr id="7" name="Q2  社外からも使いますか？">
            <a:extLst xmlns:a="http://schemas.openxmlformats.org/drawingml/2006/main">
              <a:ext uri="{FF2B5EF4-FFF2-40B4-BE49-F238E27FC236}">
                <a16:creationId xmlns:a16="http://schemas.microsoft.com/office/drawing/2014/main" id="{1EC0B75B-4E4F-49AA-A54B-D07487CF046E}"/>
              </a:ext>
            </a:extLst>
          </p:cNvPr>
          <p:cNvSpPr>
            <a:spLocks xmlns:a="http://schemas.openxmlformats.org/drawingml/2006/main" noGrp="1"/>
          </p:cNvSpPr>
          <p:nvPr/>
        </p:nvSpPr>
        <p:spPr>
          <a:xfrm xmlns:a="http://schemas.openxmlformats.org/drawingml/2006/main">
            <a:off x="1533525" y="3429000"/>
            <a:ext cx="9906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475" b="1">
                <a:solidFill>
                  <a:srgbClr val="17283A"/>
                </a:solidFill>
                <a:latin typeface="Noto Sans JP"/>
                <a:ea typeface="Noto Sans JP"/>
                <a:cs typeface="Noto Sans JP"/>
              </a:defRPr>
            </a:pPr>
            <a:r>
              <a:rPr sz="2475" b="1">
                <a:solidFill>
                  <a:srgbClr val="17283A"/>
                </a:solidFill>
                <a:latin typeface="Noto Sans JP"/>
                <a:ea typeface="Noto Sans JP"/>
                <a:cs typeface="Noto Sans JP"/>
              </a:rPr>
              <a:t>Q2  社外からも使いますか？</a:t>
            </a:r>
          </a:p>
        </p:txBody>
      </p:sp>
      <p:sp>
        <p:nvSpPr>
          <p:cNvPr id="8" name="推奨案：社内ネットワークからの利用に限定する。">
            <a:extLst xmlns:a="http://schemas.openxmlformats.org/drawingml/2006/main">
              <a:ext uri="{FF2B5EF4-FFF2-40B4-BE49-F238E27FC236}">
                <a16:creationId xmlns:a16="http://schemas.microsoft.com/office/drawing/2014/main" id="{61242D09-57F7-402E-88B9-AC177BF445DF}"/>
              </a:ext>
            </a:extLst>
          </p:cNvPr>
          <p:cNvSpPr>
            <a:spLocks xmlns:a="http://schemas.openxmlformats.org/drawingml/2006/main" noGrp="1"/>
          </p:cNvSpPr>
          <p:nvPr/>
        </p:nvSpPr>
        <p:spPr>
          <a:xfrm xmlns:a="http://schemas.openxmlformats.org/drawingml/2006/main">
            <a:off x="1533525" y="3981450"/>
            <a:ext cx="9858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526375"/>
                </a:solidFill>
                <a:latin typeface="Noto Sans JP"/>
                <a:ea typeface="Noto Sans JP"/>
                <a:cs typeface="Noto Sans JP"/>
              </a:defRPr>
            </a:pPr>
            <a:r>
              <a:rPr sz="1950" b="0">
                <a:solidFill>
                  <a:srgbClr val="526375"/>
                </a:solidFill>
                <a:latin typeface="Noto Sans JP"/>
                <a:ea typeface="Noto Sans JP"/>
                <a:cs typeface="Noto Sans JP"/>
              </a:rPr>
              <a:t>推奨案：社内ネットワークからの利用に限定する。</a:t>
            </a:r>
          </a:p>
        </p:txBody>
      </p:sp>
      <p:sp>
        <p:nvSpPr>
          <p:cNvPr id="9" name="自分">
            <a:extLst xmlns:a="http://schemas.openxmlformats.org/drawingml/2006/main">
              <a:ext uri="{FF2B5EF4-FFF2-40B4-BE49-F238E27FC236}">
                <a16:creationId xmlns:a16="http://schemas.microsoft.com/office/drawing/2014/main" id="{217E83D7-C4C1-4E8B-AA6D-489E6B7864DE}"/>
              </a:ext>
            </a:extLst>
          </p:cNvPr>
          <p:cNvSpPr>
            <a:spLocks xmlns:a="http://schemas.openxmlformats.org/drawingml/2006/main" noGrp="1"/>
          </p:cNvSpPr>
          <p:nvPr/>
        </p:nvSpPr>
        <p:spPr>
          <a:xfrm xmlns:a="http://schemas.openxmlformats.org/drawingml/2006/main">
            <a:off x="638175" y="5095875"/>
            <a:ext cx="809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00" b="1">
                <a:solidFill>
                  <a:srgbClr val="145AB0"/>
                </a:solidFill>
                <a:latin typeface="Noto Sans JP"/>
                <a:ea typeface="Noto Sans JP"/>
                <a:cs typeface="Noto Sans JP"/>
              </a:defRPr>
            </a:pPr>
            <a:r>
              <a:rPr sz="1800" b="1">
                <a:solidFill>
                  <a:srgbClr val="145AB0"/>
                </a:solidFill>
                <a:latin typeface="Noto Sans JP"/>
                <a:ea typeface="Noto Sans JP"/>
                <a:cs typeface="Noto Sans JP"/>
              </a:rPr>
              <a:t>自分</a:t>
            </a:r>
          </a:p>
        </p:txBody>
      </p:sp>
      <p:sp>
        <p:nvSpPr>
          <p:cNvPr id="10" name="Q1  社内の担当者が業務画面から使います。&#10;Q2  いいえ、社内ネットワークか">
            <a:extLst xmlns:a="http://schemas.openxmlformats.org/drawingml/2006/main">
              <a:ext uri="{FF2B5EF4-FFF2-40B4-BE49-F238E27FC236}">
                <a16:creationId xmlns:a16="http://schemas.microsoft.com/office/drawing/2014/main" id="{1CDA057D-30B3-4280-A245-C635AC47DE47}"/>
              </a:ext>
            </a:extLst>
          </p:cNvPr>
          <p:cNvSpPr>
            <a:spLocks xmlns:a="http://schemas.openxmlformats.org/drawingml/2006/main" noGrp="1"/>
          </p:cNvSpPr>
          <p:nvPr/>
        </p:nvSpPr>
        <p:spPr>
          <a:xfrm xmlns:a="http://schemas.openxmlformats.org/drawingml/2006/main">
            <a:off x="1533525" y="5000625"/>
            <a:ext cx="9858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30000"/>
              </a:lnSpc>
              <a:buNone/>
              <a:defRPr sz="2175" b="0">
                <a:solidFill>
                  <a:srgbClr val="145AB0"/>
                </a:solidFill>
                <a:latin typeface="Noto Sans JP"/>
                <a:ea typeface="Noto Sans JP"/>
                <a:cs typeface="Noto Sans JP"/>
              </a:defRPr>
            </a:pPr>
            <a:r>
              <a:rPr sz="2175" b="0">
                <a:solidFill>
                  <a:srgbClr val="145AB0"/>
                </a:solidFill>
                <a:latin typeface="Noto Sans JP"/>
                <a:ea typeface="Noto Sans JP"/>
                <a:cs typeface="Noto Sans JP"/>
              </a:rPr>
              <a:t>Q1  社内の担当者が業務画面から使います。</a:t>
            </a:r>
          </a:p>
          <a:p xmlns:a="http://schemas.openxmlformats.org/drawingml/2006/main">
            <a:pPr>
              <a:lnSpc>
                <a:spcPct val="130000"/>
              </a:lnSpc>
              <a:buNone/>
              <a:defRPr sz="2175" b="0">
                <a:solidFill>
                  <a:srgbClr val="145AB0"/>
                </a:solidFill>
                <a:latin typeface="Noto Sans JP"/>
                <a:ea typeface="Noto Sans JP"/>
                <a:cs typeface="Noto Sans JP"/>
              </a:defRPr>
            </a:pPr>
            <a:r>
              <a:rPr sz="2175" b="0">
                <a:solidFill>
                  <a:srgbClr val="145AB0"/>
                </a:solidFill>
                <a:latin typeface="Noto Sans JP"/>
                <a:ea typeface="Noto Sans JP"/>
                <a:cs typeface="Noto Sans JP"/>
              </a:rPr>
              <a:t>Q2  いいえ、社内ネットワークからだけです。</a:t>
            </a:r>
          </a:p>
        </p:txBody>
      </p:sp>
      <p:sp>
        <p:nvSpPr>
          <p:cNvPr id="11" name="説明用の会話例。実際の質問・推奨案・順序は変わります。">
            <a:extLst xmlns:a="http://schemas.openxmlformats.org/drawingml/2006/main">
              <a:ext uri="{FF2B5EF4-FFF2-40B4-BE49-F238E27FC236}">
                <a16:creationId xmlns:a16="http://schemas.microsoft.com/office/drawing/2014/main" id="{713B52C8-D75A-488D-88D9-311590763818}"/>
              </a:ext>
            </a:extLst>
          </p:cNvPr>
          <p:cNvSpPr>
            <a:spLocks xmlns:a="http://schemas.openxmlformats.org/drawingml/2006/main" noGrp="1"/>
          </p:cNvSpPr>
          <p:nvPr/>
        </p:nvSpPr>
        <p:spPr>
          <a:xfrm xmlns:a="http://schemas.openxmlformats.org/drawingml/2006/main">
            <a:off x="638175" y="6315075"/>
            <a:ext cx="9906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75" b="0">
                <a:solidFill>
                  <a:srgbClr val="526375"/>
                </a:solidFill>
                <a:latin typeface="Noto Sans JP"/>
                <a:ea typeface="Noto Sans JP"/>
                <a:cs typeface="Noto Sans JP"/>
              </a:defRPr>
            </a:pPr>
            <a:r>
              <a:rPr sz="1275" b="0">
                <a:solidFill>
                  <a:srgbClr val="526375"/>
                </a:solidFill>
                <a:latin typeface="Noto Sans JP"/>
                <a:ea typeface="Noto Sans JP"/>
                <a:cs typeface="Noto Sans JP"/>
              </a:rPr>
              <a:t>説明用の会話例。実際の質問・推奨案・順序は変わります。</a:t>
            </a:r>
          </a:p>
        </p:txBody>
      </p:sp>
    </p:spTree>
    <p:extLst>
      <p:ext uri="{BB962C8B-B14F-4D97-AF65-F5344CB8AC3E}">
        <p14:creationId xmlns:p14="http://schemas.microsoft.com/office/powerpoint/2010/main" val="68924750"/>
      </p:ext>
    </p:extLst>
  </p:cSld>
</p:sld>
</file>

<file path=ppt/slides/slide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2" name="回答に合わせて、質問が続く">
            <a:extLst xmlns:a="http://schemas.openxmlformats.org/drawingml/2006/main">
              <a:ext uri="{FF2B5EF4-FFF2-40B4-BE49-F238E27FC236}">
                <a16:creationId xmlns:a16="http://schemas.microsoft.com/office/drawing/2014/main" id="{A5829D60-7055-4110-8CD7-958A7A06C68C}"/>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回答に合わせて、質問が続く</a:t>
            </a:r>
          </a:p>
        </p:txBody>
      </p:sp>
      <p:sp>
        <p:nvSpPr>
          <p:cNvPr id="2" name="07">
            <a:extLst xmlns:a="http://schemas.openxmlformats.org/drawingml/2006/main">
              <a:ext uri="{FF2B5EF4-FFF2-40B4-BE49-F238E27FC236}">
                <a16:creationId xmlns:a16="http://schemas.microsoft.com/office/drawing/2014/main" id="{0B9D119A-34BF-413B-A0E2-F26BF00B53DE}"/>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07</a:t>
            </a:r>
          </a:p>
        </p:txBody>
      </p:sp>
      <p:sp>
        <p:nvSpPr>
          <p:cNvPr id="3" name="「社内ネットワークからだけ」と分かったので、次を確認。">
            <a:extLst xmlns:a="http://schemas.openxmlformats.org/drawingml/2006/main">
              <a:ext uri="{FF2B5EF4-FFF2-40B4-BE49-F238E27FC236}">
                <a16:creationId xmlns:a16="http://schemas.microsoft.com/office/drawing/2014/main" id="{B7EDA7FE-8FE0-4C7C-87DE-1B53AC25E7F8}"/>
              </a:ext>
            </a:extLst>
          </p:cNvPr>
          <p:cNvSpPr>
            <a:spLocks xmlns:a="http://schemas.openxmlformats.org/drawingml/2006/main" noGrp="1"/>
          </p:cNvSpPr>
          <p:nvPr/>
        </p:nvSpPr>
        <p:spPr>
          <a:xfrm xmlns:a="http://schemas.openxmlformats.org/drawingml/2006/main">
            <a:off x="638175" y="1304925"/>
            <a:ext cx="10906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00" b="0">
                <a:solidFill>
                  <a:srgbClr val="526375"/>
                </a:solidFill>
                <a:latin typeface="Noto Sans JP"/>
                <a:ea typeface="Noto Sans JP"/>
                <a:cs typeface="Noto Sans JP"/>
              </a:defRPr>
            </a:pPr>
            <a:r>
              <a:rPr sz="2100" b="0">
                <a:solidFill>
                  <a:srgbClr val="526375"/>
                </a:solidFill>
                <a:latin typeface="Noto Sans JP"/>
                <a:ea typeface="Noto Sans JP"/>
                <a:cs typeface="Noto Sans JP"/>
              </a:rPr>
              <a:t>「社内ネットワークからだけ」と分かったので、次を確認。</a:t>
            </a:r>
          </a:p>
        </p:txBody>
      </p:sp>
      <p:sp>
        <p:nvSpPr>
          <p:cNvPr id="4" name="AI">
            <a:extLst xmlns:a="http://schemas.openxmlformats.org/drawingml/2006/main">
              <a:ext uri="{FF2B5EF4-FFF2-40B4-BE49-F238E27FC236}">
                <a16:creationId xmlns:a16="http://schemas.microsoft.com/office/drawing/2014/main" id="{D1F17584-956D-475E-AFA8-721D108FC053}"/>
              </a:ext>
            </a:extLst>
          </p:cNvPr>
          <p:cNvSpPr>
            <a:spLocks xmlns:a="http://schemas.openxmlformats.org/drawingml/2006/main" noGrp="1"/>
          </p:cNvSpPr>
          <p:nvPr/>
        </p:nvSpPr>
        <p:spPr>
          <a:xfrm xmlns:a="http://schemas.openxmlformats.org/drawingml/2006/main">
            <a:off x="638175" y="21431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00" b="1">
                <a:solidFill>
                  <a:srgbClr val="145AB0"/>
                </a:solidFill>
                <a:latin typeface="Noto Sans JP"/>
                <a:ea typeface="Noto Sans JP"/>
                <a:cs typeface="Noto Sans JP"/>
              </a:defRPr>
            </a:pPr>
            <a:r>
              <a:rPr sz="1800" b="1">
                <a:solidFill>
                  <a:srgbClr val="145AB0"/>
                </a:solidFill>
                <a:latin typeface="Noto Sans JP"/>
                <a:ea typeface="Noto Sans JP"/>
                <a:cs typeface="Noto Sans JP"/>
              </a:rPr>
              <a:t>AI</a:t>
            </a:r>
          </a:p>
        </p:txBody>
      </p:sp>
      <p:sp>
        <p:nvSpPr>
          <p:cNvPr id="5" name="Q3  社内からAzureへどう接続しますか？">
            <a:extLst xmlns:a="http://schemas.openxmlformats.org/drawingml/2006/main">
              <a:ext uri="{FF2B5EF4-FFF2-40B4-BE49-F238E27FC236}">
                <a16:creationId xmlns:a16="http://schemas.microsoft.com/office/drawing/2014/main" id="{68BD7835-A92B-4862-9B08-5DB1DAFAB1D4}"/>
              </a:ext>
            </a:extLst>
          </p:cNvPr>
          <p:cNvSpPr>
            <a:spLocks xmlns:a="http://schemas.openxmlformats.org/drawingml/2006/main" noGrp="1"/>
          </p:cNvSpPr>
          <p:nvPr/>
        </p:nvSpPr>
        <p:spPr>
          <a:xfrm xmlns:a="http://schemas.openxmlformats.org/drawingml/2006/main">
            <a:off x="1533525" y="2057400"/>
            <a:ext cx="9906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475" b="1">
                <a:solidFill>
                  <a:srgbClr val="17283A"/>
                </a:solidFill>
                <a:latin typeface="Noto Sans JP"/>
                <a:ea typeface="Noto Sans JP"/>
                <a:cs typeface="Noto Sans JP"/>
              </a:defRPr>
            </a:pPr>
            <a:r>
              <a:rPr sz="2475" b="1">
                <a:solidFill>
                  <a:srgbClr val="17283A"/>
                </a:solidFill>
                <a:latin typeface="Noto Sans JP"/>
                <a:ea typeface="Noto Sans JP"/>
                <a:cs typeface="Noto Sans JP"/>
              </a:rPr>
              <a:t>Q3  社内からAzureへどう接続しますか？</a:t>
            </a:r>
          </a:p>
        </p:txBody>
      </p:sp>
      <p:sp>
        <p:nvSpPr>
          <p:cNvPr id="6" name="推奨案：既存の閉域接続を使う。">
            <a:extLst xmlns:a="http://schemas.openxmlformats.org/drawingml/2006/main">
              <a:ext uri="{FF2B5EF4-FFF2-40B4-BE49-F238E27FC236}">
                <a16:creationId xmlns:a16="http://schemas.microsoft.com/office/drawing/2014/main" id="{EF78656B-ECE5-446D-BA3B-D33320A1A849}"/>
              </a:ext>
            </a:extLst>
          </p:cNvPr>
          <p:cNvSpPr>
            <a:spLocks xmlns:a="http://schemas.openxmlformats.org/drawingml/2006/main" noGrp="1"/>
          </p:cNvSpPr>
          <p:nvPr/>
        </p:nvSpPr>
        <p:spPr>
          <a:xfrm xmlns:a="http://schemas.openxmlformats.org/drawingml/2006/main">
            <a:off x="1533525" y="2609850"/>
            <a:ext cx="9858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526375"/>
                </a:solidFill>
                <a:latin typeface="Noto Sans JP"/>
                <a:ea typeface="Noto Sans JP"/>
                <a:cs typeface="Noto Sans JP"/>
              </a:defRPr>
            </a:pPr>
            <a:r>
              <a:rPr sz="1950" b="0">
                <a:solidFill>
                  <a:srgbClr val="526375"/>
                </a:solidFill>
                <a:latin typeface="Noto Sans JP"/>
                <a:ea typeface="Noto Sans JP"/>
                <a:cs typeface="Noto Sans JP"/>
              </a:rPr>
              <a:t>推奨案：既存の閉域接続を使う。</a:t>
            </a:r>
          </a:p>
        </p:txBody>
      </p:sp>
      <p:sp>
        <p:nvSpPr>
          <p:cNvPr id="7" name="Q4  利用者の認証はどうしますか？">
            <a:extLst xmlns:a="http://schemas.openxmlformats.org/drawingml/2006/main">
              <a:ext uri="{FF2B5EF4-FFF2-40B4-BE49-F238E27FC236}">
                <a16:creationId xmlns:a16="http://schemas.microsoft.com/office/drawing/2014/main" id="{48824CB7-A949-4E44-B49F-E62867F1D906}"/>
              </a:ext>
            </a:extLst>
          </p:cNvPr>
          <p:cNvSpPr>
            <a:spLocks xmlns:a="http://schemas.openxmlformats.org/drawingml/2006/main" noGrp="1"/>
          </p:cNvSpPr>
          <p:nvPr/>
        </p:nvSpPr>
        <p:spPr>
          <a:xfrm xmlns:a="http://schemas.openxmlformats.org/drawingml/2006/main">
            <a:off x="1533525" y="3400425"/>
            <a:ext cx="9906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475" b="1">
                <a:solidFill>
                  <a:srgbClr val="17283A"/>
                </a:solidFill>
                <a:latin typeface="Noto Sans JP"/>
                <a:ea typeface="Noto Sans JP"/>
                <a:cs typeface="Noto Sans JP"/>
              </a:defRPr>
            </a:pPr>
            <a:r>
              <a:rPr sz="2475" b="1">
                <a:solidFill>
                  <a:srgbClr val="17283A"/>
                </a:solidFill>
                <a:latin typeface="Noto Sans JP"/>
                <a:ea typeface="Noto Sans JP"/>
                <a:cs typeface="Noto Sans JP"/>
              </a:rPr>
              <a:t>Q4  利用者の認証はどうしますか？</a:t>
            </a:r>
          </a:p>
        </p:txBody>
      </p:sp>
      <p:sp>
        <p:nvSpPr>
          <p:cNvPr id="8" name="推奨案：既存のEntra IDを使う。">
            <a:extLst xmlns:a="http://schemas.openxmlformats.org/drawingml/2006/main">
              <a:ext uri="{FF2B5EF4-FFF2-40B4-BE49-F238E27FC236}">
                <a16:creationId xmlns:a16="http://schemas.microsoft.com/office/drawing/2014/main" id="{8CF7252D-A5CD-43EA-A142-4BAB16E1B1BC}"/>
              </a:ext>
            </a:extLst>
          </p:cNvPr>
          <p:cNvSpPr>
            <a:spLocks xmlns:a="http://schemas.openxmlformats.org/drawingml/2006/main" noGrp="1"/>
          </p:cNvSpPr>
          <p:nvPr/>
        </p:nvSpPr>
        <p:spPr>
          <a:xfrm xmlns:a="http://schemas.openxmlformats.org/drawingml/2006/main">
            <a:off x="1533525" y="3952875"/>
            <a:ext cx="9858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950" b="0">
                <a:solidFill>
                  <a:srgbClr val="526375"/>
                </a:solidFill>
                <a:latin typeface="Noto Sans JP"/>
                <a:ea typeface="Noto Sans JP"/>
                <a:cs typeface="Noto Sans JP"/>
              </a:defRPr>
            </a:pPr>
            <a:r>
              <a:rPr sz="1950" b="0">
                <a:solidFill>
                  <a:srgbClr val="526375"/>
                </a:solidFill>
                <a:latin typeface="Noto Sans JP"/>
                <a:ea typeface="Noto Sans JP"/>
                <a:cs typeface="Noto Sans JP"/>
              </a:rPr>
              <a:t>推奨案：既存のEntra IDを使う。</a:t>
            </a:r>
          </a:p>
        </p:txBody>
      </p:sp>
      <p:sp>
        <p:nvSpPr>
          <p:cNvPr id="9" name="自分">
            <a:extLst xmlns:a="http://schemas.openxmlformats.org/drawingml/2006/main">
              <a:ext uri="{FF2B5EF4-FFF2-40B4-BE49-F238E27FC236}">
                <a16:creationId xmlns:a16="http://schemas.microsoft.com/office/drawing/2014/main" id="{6BF78FCC-C11C-4F46-A9B6-28DE955398ED}"/>
              </a:ext>
            </a:extLst>
          </p:cNvPr>
          <p:cNvSpPr>
            <a:spLocks xmlns:a="http://schemas.openxmlformats.org/drawingml/2006/main" noGrp="1"/>
          </p:cNvSpPr>
          <p:nvPr/>
        </p:nvSpPr>
        <p:spPr>
          <a:xfrm xmlns:a="http://schemas.openxmlformats.org/drawingml/2006/main">
            <a:off x="638175" y="4991100"/>
            <a:ext cx="809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00" b="1">
                <a:solidFill>
                  <a:srgbClr val="145AB0"/>
                </a:solidFill>
                <a:latin typeface="Noto Sans JP"/>
                <a:ea typeface="Noto Sans JP"/>
                <a:cs typeface="Noto Sans JP"/>
              </a:defRPr>
            </a:pPr>
            <a:r>
              <a:rPr sz="1800" b="1">
                <a:solidFill>
                  <a:srgbClr val="145AB0"/>
                </a:solidFill>
                <a:latin typeface="Noto Sans JP"/>
                <a:ea typeface="Noto Sans JP"/>
                <a:cs typeface="Noto Sans JP"/>
              </a:rPr>
              <a:t>自分</a:t>
            </a:r>
          </a:p>
        </p:txBody>
      </p:sp>
      <p:sp>
        <p:nvSpPr>
          <p:cNvPr id="10" name="Q3  既存の閉域接続を使います。&#10;Q4  社内のEntra IDアカウントで認">
            <a:extLst xmlns:a="http://schemas.openxmlformats.org/drawingml/2006/main">
              <a:ext uri="{FF2B5EF4-FFF2-40B4-BE49-F238E27FC236}">
                <a16:creationId xmlns:a16="http://schemas.microsoft.com/office/drawing/2014/main" id="{C74B0D2C-B05E-47AE-A714-290ED4C1F884}"/>
              </a:ext>
            </a:extLst>
          </p:cNvPr>
          <p:cNvSpPr>
            <a:spLocks xmlns:a="http://schemas.openxmlformats.org/drawingml/2006/main" noGrp="1"/>
          </p:cNvSpPr>
          <p:nvPr/>
        </p:nvSpPr>
        <p:spPr>
          <a:xfrm xmlns:a="http://schemas.openxmlformats.org/drawingml/2006/main">
            <a:off x="1533525" y="4914900"/>
            <a:ext cx="995362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40000"/>
              </a:lnSpc>
              <a:buNone/>
              <a:defRPr sz="2100" b="0">
                <a:solidFill>
                  <a:srgbClr val="145AB0"/>
                </a:solidFill>
                <a:latin typeface="Noto Sans JP"/>
                <a:ea typeface="Noto Sans JP"/>
                <a:cs typeface="Noto Sans JP"/>
              </a:defRPr>
            </a:pPr>
            <a:r>
              <a:rPr sz="2100" b="0">
                <a:solidFill>
                  <a:srgbClr val="145AB0"/>
                </a:solidFill>
                <a:latin typeface="Noto Sans JP"/>
                <a:ea typeface="Noto Sans JP"/>
                <a:cs typeface="Noto Sans JP"/>
              </a:rPr>
              <a:t>Q3  既存の閉域接続を使います。</a:t>
            </a:r>
          </a:p>
          <a:p xmlns:a="http://schemas.openxmlformats.org/drawingml/2006/main">
            <a:pPr>
              <a:lnSpc>
                <a:spcPct val="140000"/>
              </a:lnSpc>
              <a:buNone/>
              <a:defRPr sz="2100" b="0">
                <a:solidFill>
                  <a:srgbClr val="145AB0"/>
                </a:solidFill>
                <a:latin typeface="Noto Sans JP"/>
                <a:ea typeface="Noto Sans JP"/>
                <a:cs typeface="Noto Sans JP"/>
              </a:defRPr>
            </a:pPr>
            <a:r>
              <a:rPr sz="2100" b="0">
                <a:solidFill>
                  <a:srgbClr val="145AB0"/>
                </a:solidFill>
                <a:latin typeface="Noto Sans JP"/>
                <a:ea typeface="Noto Sans JP"/>
                <a:cs typeface="Noto Sans JP"/>
              </a:rPr>
              <a:t>Q4  社内のEntra IDアカウントで認証します。</a:t>
            </a:r>
          </a:p>
        </p:txBody>
      </p:sp>
      <p:sp>
        <p:nvSpPr>
          <p:cNvPr id="11" name="説明用の会話例（前ページの続き）。">
            <a:extLst xmlns:a="http://schemas.openxmlformats.org/drawingml/2006/main">
              <a:ext uri="{FF2B5EF4-FFF2-40B4-BE49-F238E27FC236}">
                <a16:creationId xmlns:a16="http://schemas.microsoft.com/office/drawing/2014/main" id="{093E055D-C8B0-48C5-9FA7-57B058BB92CA}"/>
              </a:ext>
            </a:extLst>
          </p:cNvPr>
          <p:cNvSpPr>
            <a:spLocks xmlns:a="http://schemas.openxmlformats.org/drawingml/2006/main" noGrp="1"/>
          </p:cNvSpPr>
          <p:nvPr/>
        </p:nvSpPr>
        <p:spPr>
          <a:xfrm xmlns:a="http://schemas.openxmlformats.org/drawingml/2006/main">
            <a:off x="638175" y="6315075"/>
            <a:ext cx="10334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75" b="0">
                <a:solidFill>
                  <a:srgbClr val="526375"/>
                </a:solidFill>
                <a:latin typeface="Noto Sans JP"/>
                <a:ea typeface="Noto Sans JP"/>
                <a:cs typeface="Noto Sans JP"/>
              </a:defRPr>
            </a:pPr>
            <a:r>
              <a:rPr sz="1275" b="0">
                <a:solidFill>
                  <a:srgbClr val="526375"/>
                </a:solidFill>
                <a:latin typeface="Noto Sans JP"/>
                <a:ea typeface="Noto Sans JP"/>
                <a:cs typeface="Noto Sans JP"/>
              </a:rPr>
              <a:t>説明用の会話例（前ページの続き）。</a:t>
            </a:r>
          </a:p>
        </p:txBody>
      </p:sp>
    </p:spTree>
    <p:extLst>
      <p:ext uri="{BB962C8B-B14F-4D97-AF65-F5344CB8AC3E}">
        <p14:creationId xmlns:p14="http://schemas.microsoft.com/office/powerpoint/2010/main" val="225927612"/>
      </p:ext>
    </p:extLst>
  </p:cSld>
</p:sld>
</file>

<file path=ppt/slides/slide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質問で詰めた要件を、方式設計Agentへ">
            <a:extLst xmlns:a="http://schemas.openxmlformats.org/drawingml/2006/main">
              <a:ext uri="{FF2B5EF4-FFF2-40B4-BE49-F238E27FC236}">
                <a16:creationId xmlns:a16="http://schemas.microsoft.com/office/drawing/2014/main" id="{8168C922-A857-46BF-9367-AAA748338285}"/>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質問で詰めた要件を、方式設計Agentへ</a:t>
            </a:r>
          </a:p>
        </p:txBody>
      </p:sp>
      <p:sp>
        <p:nvSpPr>
          <p:cNvPr id="2" name="08">
            <a:extLst xmlns:a="http://schemas.openxmlformats.org/drawingml/2006/main">
              <a:ext uri="{FF2B5EF4-FFF2-40B4-BE49-F238E27FC236}">
                <a16:creationId xmlns:a16="http://schemas.microsoft.com/office/drawing/2014/main" id="{58331CFB-AE7D-46F5-89FD-65EF6D44FA3A}"/>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08</a:t>
            </a:r>
          </a:p>
        </p:txBody>
      </p:sp>
      <p:graphicFrame>
        <p:nvGraphicFramePr>
          <p:cNvPr id="10" name=""/>
          <p:cNvGraphicFramePr/>
          <p:nvPr/>
        </p:nvGraphicFramePr>
        <p:xfrm>
          <a:off xmlns:a="http://schemas.openxmlformats.org/drawingml/2006/main" x="619125" y="1819275"/>
          <a:ext xmlns:a="http://schemas.openxmlformats.org/drawingml/2006/main" cx="6962775" cy="3390900"/>
        </p:xfrm>
        <a:graphic xmlns:a="http://schemas.openxmlformats.org/drawingml/2006/main">
          <a:graphicData uri="http://schemas.openxmlformats.org/drawingml/2006/table">
            <a:tbl>
              <a:tblPr firstRow="0" bandRow="0"/>
              <a:tblGrid>
                <a:gridCol w="1971675"/>
                <a:gridCol w="4991100"/>
              </a:tblGrid>
              <a:tr h="678180">
                <a:tc>
                  <a:txBody>
                    <a:bodyPr lIns="190500" tIns="123825" rIns="171450" bIns="95250">
                      <a:noAutofit/>
                    </a:bodyPr>
                    <a:lstStyle/>
                    <a:p>
                      <a:r>
                        <a:rPr sz="1725" b="1">
                          <a:solidFill>
                            <a:srgbClr val="FFFFFF"/>
                          </a:solidFill>
                          <a:latin typeface="Noto Sans JP"/>
                          <a:ea typeface="Noto Sans JP"/>
                          <a:cs typeface="Noto Sans JP"/>
                        </a:rPr>
                        <a:t>確認したこと</a:t>
                      </a:r>
                    </a:p>
                  </a:txBody>
                  <a:tcPr marL="91440" marR="91440" marT="45720" marB="45720" anchor="ctr">
                    <a:solidFill>
                      <a:srgbClr val="142638"/>
                    </a:solidFill>
                  </a:tcPr>
                </a:tc>
                <a:tc>
                  <a:txBody>
                    <a:bodyPr lIns="190500" tIns="123825" rIns="171450" bIns="95250">
                      <a:noAutofit/>
                    </a:bodyPr>
                    <a:lstStyle/>
                    <a:p>
                      <a:r>
                        <a:rPr sz="1725" b="1">
                          <a:solidFill>
                            <a:srgbClr val="FFFFFF"/>
                          </a:solidFill>
                          <a:latin typeface="Noto Sans JP"/>
                          <a:ea typeface="Noto Sans JP"/>
                          <a:cs typeface="Noto Sans JP"/>
                        </a:rPr>
                        <a:t>この例での回答</a:t>
                      </a:r>
                    </a:p>
                  </a:txBody>
                  <a:tcPr marL="91440" marR="91440" marT="45720" marB="45720" anchor="ctr">
                    <a:solidFill>
                      <a:srgbClr val="142638"/>
                    </a:solidFill>
                  </a:tcPr>
                </a:tc>
              </a:tr>
              <a:tr h="678180">
                <a:tc>
                  <a:txBody>
                    <a:bodyPr lIns="190500" tIns="123825" rIns="171450" bIns="95250">
                      <a:noAutofit/>
                    </a:bodyPr>
                    <a:lstStyle/>
                    <a:p>
                      <a:r>
                        <a:rPr sz="1875" b="1">
                          <a:solidFill>
                            <a:srgbClr val="17283A"/>
                          </a:solidFill>
                          <a:latin typeface="Noto Sans JP"/>
                          <a:ea typeface="Noto Sans JP"/>
                          <a:cs typeface="Noto Sans JP"/>
                        </a:rPr>
                        <a:t>利用者</a:t>
                      </a:r>
                    </a:p>
                  </a:txBody>
                  <a:tcPr marL="91440" marR="91440" marT="45720" marB="45720" anchor="ctr">
                    <a:solidFill>
                      <a:srgbClr val="FFFFFF"/>
                    </a:solidFill>
                  </a:tcPr>
                </a:tc>
                <a:tc>
                  <a:txBody>
                    <a:bodyPr lIns="190500" tIns="123825" rIns="171450" bIns="95250">
                      <a:noAutofit/>
                    </a:bodyPr>
                    <a:lstStyle/>
                    <a:p>
                      <a:r>
                        <a:rPr sz="1875" b="0">
                          <a:solidFill>
                            <a:srgbClr val="17283A"/>
                          </a:solidFill>
                          <a:latin typeface="Noto Sans JP"/>
                          <a:ea typeface="Noto Sans JP"/>
                          <a:cs typeface="Noto Sans JP"/>
                        </a:rPr>
                        <a:t>社内の担当者（業務画面）</a:t>
                      </a:r>
                    </a:p>
                  </a:txBody>
                  <a:tcPr marL="91440" marR="91440" marT="45720" marB="45720" anchor="ctr">
                    <a:solidFill>
                      <a:srgbClr val="FFFFFF"/>
                    </a:solidFill>
                  </a:tcPr>
                </a:tc>
              </a:tr>
              <a:tr h="678180">
                <a:tc>
                  <a:txBody>
                    <a:bodyPr lIns="190500" tIns="123825" rIns="171450" bIns="95250">
                      <a:noAutofit/>
                    </a:bodyPr>
                    <a:lstStyle/>
                    <a:p>
                      <a:r>
                        <a:rPr sz="1875" b="1">
                          <a:solidFill>
                            <a:srgbClr val="17283A"/>
                          </a:solidFill>
                          <a:latin typeface="Noto Sans JP"/>
                          <a:ea typeface="Noto Sans JP"/>
                          <a:cs typeface="Noto Sans JP"/>
                        </a:rPr>
                        <a:t>公開範囲</a:t>
                      </a:r>
                    </a:p>
                  </a:txBody>
                  <a:tcPr marL="91440" marR="91440" marT="45720" marB="45720" anchor="ctr">
                    <a:solidFill>
                      <a:srgbClr val="FFFFFF"/>
                    </a:solidFill>
                  </a:tcPr>
                </a:tc>
                <a:tc>
                  <a:txBody>
                    <a:bodyPr lIns="190500" tIns="123825" rIns="171450" bIns="95250">
                      <a:noAutofit/>
                    </a:bodyPr>
                    <a:lstStyle/>
                    <a:p>
                      <a:r>
                        <a:rPr sz="1875" b="0">
                          <a:solidFill>
                            <a:srgbClr val="17283A"/>
                          </a:solidFill>
                          <a:latin typeface="Noto Sans JP"/>
                          <a:ea typeface="Noto Sans JP"/>
                          <a:cs typeface="Noto Sans JP"/>
                        </a:rPr>
                        <a:t>社内ネットワークのみ</a:t>
                      </a:r>
                    </a:p>
                  </a:txBody>
                  <a:tcPr marL="91440" marR="91440" marT="45720" marB="45720" anchor="ctr">
                    <a:solidFill>
                      <a:srgbClr val="FFFFFF"/>
                    </a:solidFill>
                  </a:tcPr>
                </a:tc>
              </a:tr>
              <a:tr h="678180">
                <a:tc>
                  <a:txBody>
                    <a:bodyPr lIns="190500" tIns="123825" rIns="171450" bIns="95250">
                      <a:noAutofit/>
                    </a:bodyPr>
                    <a:lstStyle/>
                    <a:p>
                      <a:r>
                        <a:rPr sz="1875" b="1">
                          <a:solidFill>
                            <a:srgbClr val="17283A"/>
                          </a:solidFill>
                          <a:latin typeface="Noto Sans JP"/>
                          <a:ea typeface="Noto Sans JP"/>
                          <a:cs typeface="Noto Sans JP"/>
                        </a:rPr>
                        <a:t>ネットワーク</a:t>
                      </a:r>
                    </a:p>
                  </a:txBody>
                  <a:tcPr marL="91440" marR="91440" marT="45720" marB="45720" anchor="ctr">
                    <a:solidFill>
                      <a:srgbClr val="FFFFFF"/>
                    </a:solidFill>
                  </a:tcPr>
                </a:tc>
                <a:tc>
                  <a:txBody>
                    <a:bodyPr lIns="190500" tIns="123825" rIns="171450" bIns="95250">
                      <a:noAutofit/>
                    </a:bodyPr>
                    <a:lstStyle/>
                    <a:p>
                      <a:r>
                        <a:rPr sz="1875" b="0">
                          <a:solidFill>
                            <a:srgbClr val="17283A"/>
                          </a:solidFill>
                          <a:latin typeface="Noto Sans JP"/>
                          <a:ea typeface="Noto Sans JP"/>
                          <a:cs typeface="Noto Sans JP"/>
                        </a:rPr>
                        <a:t>既存の閉域接続を使う</a:t>
                      </a:r>
                    </a:p>
                  </a:txBody>
                  <a:tcPr marL="91440" marR="91440" marT="45720" marB="45720" anchor="ctr">
                    <a:solidFill>
                      <a:srgbClr val="FFFFFF"/>
                    </a:solidFill>
                  </a:tcPr>
                </a:tc>
              </a:tr>
              <a:tr h="678180">
                <a:tc>
                  <a:txBody>
                    <a:bodyPr lIns="190500" tIns="123825" rIns="171450" bIns="95250">
                      <a:noAutofit/>
                    </a:bodyPr>
                    <a:lstStyle/>
                    <a:p>
                      <a:r>
                        <a:rPr sz="1875" b="1">
                          <a:solidFill>
                            <a:srgbClr val="17283A"/>
                          </a:solidFill>
                          <a:latin typeface="Noto Sans JP"/>
                          <a:ea typeface="Noto Sans JP"/>
                          <a:cs typeface="Noto Sans JP"/>
                        </a:rPr>
                        <a:t>認証</a:t>
                      </a:r>
                    </a:p>
                  </a:txBody>
                  <a:tcPr marL="91440" marR="91440" marT="45720" marB="45720" anchor="ctr">
                    <a:solidFill>
                      <a:srgbClr val="FFFFFF"/>
                    </a:solidFill>
                  </a:tcPr>
                </a:tc>
                <a:tc>
                  <a:txBody>
                    <a:bodyPr lIns="190500" tIns="123825" rIns="171450" bIns="95250">
                      <a:noAutofit/>
                    </a:bodyPr>
                    <a:lstStyle/>
                    <a:p>
                      <a:r>
                        <a:rPr sz="1875" b="0">
                          <a:solidFill>
                            <a:srgbClr val="17283A"/>
                          </a:solidFill>
                          <a:latin typeface="Noto Sans JP"/>
                          <a:ea typeface="Noto Sans JP"/>
                          <a:cs typeface="Noto Sans JP"/>
                        </a:rPr>
                        <a:t>Entra IDの社内アカウント</a:t>
                      </a:r>
                    </a:p>
                  </a:txBody>
                  <a:tcPr marL="91440" marR="91440" marT="45720" marB="45720" anchor="ctr">
                    <a:solidFill>
                      <a:srgbClr val="FFFFFF"/>
                    </a:solidFill>
                  </a:tcPr>
                </a:tc>
              </a:tr>
            </a:tbl>
          </a:graphicData>
        </a:graphic>
      </p:graphicFrame>
      <p:sp>
        <p:nvSpPr>
          <p:cNvPr id="4" name="回答をまとめて渡す">
            <a:extLst xmlns:a="http://schemas.openxmlformats.org/drawingml/2006/main">
              <a:ext uri="{FF2B5EF4-FFF2-40B4-BE49-F238E27FC236}">
                <a16:creationId xmlns:a16="http://schemas.microsoft.com/office/drawing/2014/main" id="{8267719B-F9C5-4DD0-9F1F-93C5720D2F51}"/>
              </a:ext>
            </a:extLst>
          </p:cNvPr>
          <p:cNvSpPr>
            <a:spLocks xmlns:a="http://schemas.openxmlformats.org/drawingml/2006/main" noGrp="1"/>
          </p:cNvSpPr>
          <p:nvPr/>
        </p:nvSpPr>
        <p:spPr>
          <a:xfrm xmlns:a="http://schemas.openxmlformats.org/drawingml/2006/main">
            <a:off x="8020050" y="1943100"/>
            <a:ext cx="36004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1">
                <a:solidFill>
                  <a:srgbClr val="145AB0"/>
                </a:solidFill>
                <a:latin typeface="Noto Sans JP"/>
                <a:ea typeface="Noto Sans JP"/>
                <a:cs typeface="Noto Sans JP"/>
              </a:defRPr>
            </a:pPr>
            <a:r>
              <a:rPr sz="2175" b="1">
                <a:solidFill>
                  <a:srgbClr val="145AB0"/>
                </a:solidFill>
                <a:latin typeface="Noto Sans JP"/>
                <a:ea typeface="Noto Sans JP"/>
                <a:cs typeface="Noto Sans JP"/>
              </a:rPr>
              <a:t>回答をまとめて渡す</a:t>
            </a:r>
          </a:p>
        </p:txBody>
      </p:sp>
      <p:sp>
        <p:nvSpPr>
          <p:cNvPr id="5" name="利用者や接続・認証の&#10;条件を添えて、方式案の&#10;作成を依頼する。">
            <a:extLst xmlns:a="http://schemas.openxmlformats.org/drawingml/2006/main">
              <a:ext uri="{FF2B5EF4-FFF2-40B4-BE49-F238E27FC236}">
                <a16:creationId xmlns:a16="http://schemas.microsoft.com/office/drawing/2014/main" id="{34437978-0629-4CE7-8DB2-095F95B1CCE6}"/>
              </a:ext>
            </a:extLst>
          </p:cNvPr>
          <p:cNvSpPr>
            <a:spLocks xmlns:a="http://schemas.openxmlformats.org/drawingml/2006/main" noGrp="1"/>
          </p:cNvSpPr>
          <p:nvPr/>
        </p:nvSpPr>
        <p:spPr>
          <a:xfrm xmlns:a="http://schemas.openxmlformats.org/drawingml/2006/main">
            <a:off x="8020050" y="2857500"/>
            <a:ext cx="35242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45000"/>
              </a:lnSpc>
              <a:buNone/>
              <a:defRPr sz="1875" b="0">
                <a:solidFill>
                  <a:srgbClr val="17283A"/>
                </a:solidFill>
                <a:latin typeface="Noto Sans JP"/>
                <a:ea typeface="Noto Sans JP"/>
                <a:cs typeface="Noto Sans JP"/>
              </a:defRPr>
            </a:pPr>
            <a:r>
              <a:rPr sz="1875" b="0">
                <a:solidFill>
                  <a:srgbClr val="17283A"/>
                </a:solidFill>
                <a:latin typeface="Noto Sans JP"/>
                <a:ea typeface="Noto Sans JP"/>
                <a:cs typeface="Noto Sans JP"/>
              </a:rPr>
              <a:t>利用者や接続・認証の</a:t>
            </a:r>
          </a:p>
          <a:p xmlns:a="http://schemas.openxmlformats.org/drawingml/2006/main">
            <a:pPr>
              <a:lnSpc>
                <a:spcPct val="145000"/>
              </a:lnSpc>
              <a:buNone/>
              <a:defRPr sz="1875" b="0">
                <a:solidFill>
                  <a:srgbClr val="17283A"/>
                </a:solidFill>
                <a:latin typeface="Noto Sans JP"/>
                <a:ea typeface="Noto Sans JP"/>
                <a:cs typeface="Noto Sans JP"/>
              </a:defRPr>
            </a:pPr>
            <a:r>
              <a:rPr sz="1875" b="0">
                <a:solidFill>
                  <a:srgbClr val="17283A"/>
                </a:solidFill>
                <a:latin typeface="Noto Sans JP"/>
                <a:ea typeface="Noto Sans JP"/>
                <a:cs typeface="Noto Sans JP"/>
              </a:rPr>
              <a:t>条件を添えて、方式案の</a:t>
            </a:r>
          </a:p>
          <a:p xmlns:a="http://schemas.openxmlformats.org/drawingml/2006/main">
            <a:pPr>
              <a:lnSpc>
                <a:spcPct val="145000"/>
              </a:lnSpc>
              <a:buNone/>
              <a:defRPr sz="1875" b="0">
                <a:solidFill>
                  <a:srgbClr val="17283A"/>
                </a:solidFill>
                <a:latin typeface="Noto Sans JP"/>
                <a:ea typeface="Noto Sans JP"/>
                <a:cs typeface="Noto Sans JP"/>
              </a:defRPr>
            </a:pPr>
            <a:r>
              <a:rPr sz="1875" b="0">
                <a:solidFill>
                  <a:srgbClr val="17283A"/>
                </a:solidFill>
                <a:latin typeface="Noto Sans JP"/>
                <a:ea typeface="Noto Sans JP"/>
                <a:cs typeface="Noto Sans JP"/>
              </a:rPr>
              <a:t>作成を依頼する。</a:t>
            </a:r>
          </a:p>
        </p:txBody>
      </p:sp>
      <p:sp>
        <p:nvSpPr>
          <p:cNvPr id="6" name="分からない条件は、&#10;未確認と明記する。">
            <a:extLst xmlns:a="http://schemas.openxmlformats.org/drawingml/2006/main">
              <a:ext uri="{FF2B5EF4-FFF2-40B4-BE49-F238E27FC236}">
                <a16:creationId xmlns:a16="http://schemas.microsoft.com/office/drawing/2014/main" id="{6ADC7F89-FCFE-408C-AC43-B87EE290C2D9}"/>
              </a:ext>
            </a:extLst>
          </p:cNvPr>
          <p:cNvSpPr>
            <a:spLocks xmlns:a="http://schemas.openxmlformats.org/drawingml/2006/main" noGrp="1"/>
          </p:cNvSpPr>
          <p:nvPr/>
        </p:nvSpPr>
        <p:spPr>
          <a:xfrm xmlns:a="http://schemas.openxmlformats.org/drawingml/2006/main">
            <a:off x="8020050" y="4476750"/>
            <a:ext cx="35242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40000"/>
              </a:lnSpc>
              <a:buNone/>
              <a:defRPr sz="1875" b="0">
                <a:solidFill>
                  <a:srgbClr val="17283A"/>
                </a:solidFill>
                <a:latin typeface="Noto Sans JP"/>
                <a:ea typeface="Noto Sans JP"/>
                <a:cs typeface="Noto Sans JP"/>
              </a:defRPr>
            </a:pPr>
            <a:r>
              <a:rPr sz="1875" b="0">
                <a:solidFill>
                  <a:srgbClr val="17283A"/>
                </a:solidFill>
                <a:latin typeface="Noto Sans JP"/>
                <a:ea typeface="Noto Sans JP"/>
                <a:cs typeface="Noto Sans JP"/>
              </a:rPr>
              <a:t>分からない条件は、</a:t>
            </a:r>
          </a:p>
          <a:p xmlns:a="http://schemas.openxmlformats.org/drawingml/2006/main">
            <a:pPr>
              <a:lnSpc>
                <a:spcPct val="140000"/>
              </a:lnSpc>
              <a:buNone/>
              <a:defRPr sz="1875" b="0">
                <a:solidFill>
                  <a:srgbClr val="17283A"/>
                </a:solidFill>
                <a:latin typeface="Noto Sans JP"/>
                <a:ea typeface="Noto Sans JP"/>
                <a:cs typeface="Noto Sans JP"/>
              </a:defRPr>
            </a:pPr>
            <a:r>
              <a:rPr sz="1875" b="0">
                <a:solidFill>
                  <a:srgbClr val="17283A"/>
                </a:solidFill>
                <a:latin typeface="Noto Sans JP"/>
                <a:ea typeface="Noto Sans JP"/>
                <a:cs typeface="Noto Sans JP"/>
              </a:rPr>
              <a:t>未確認と明記する。</a:t>
            </a:r>
          </a:p>
        </p:txBody>
      </p:sp>
      <p:sp>
        <p:nvSpPr>
          <p:cNvPr id="7" name="この例では未確認：APIの処理内容、呼び出し量、可用性など。">
            <a:extLst xmlns:a="http://schemas.openxmlformats.org/drawingml/2006/main">
              <a:ext uri="{FF2B5EF4-FFF2-40B4-BE49-F238E27FC236}">
                <a16:creationId xmlns:a16="http://schemas.microsoft.com/office/drawing/2014/main" id="{9C445E92-ACF7-4877-9925-A5C898A67FC1}"/>
              </a:ext>
            </a:extLst>
          </p:cNvPr>
          <p:cNvSpPr>
            <a:spLocks xmlns:a="http://schemas.openxmlformats.org/drawingml/2006/main" noGrp="1"/>
          </p:cNvSpPr>
          <p:nvPr/>
        </p:nvSpPr>
        <p:spPr>
          <a:xfrm xmlns:a="http://schemas.openxmlformats.org/drawingml/2006/main">
            <a:off x="638175" y="595312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650" b="0">
                <a:solidFill>
                  <a:srgbClr val="526375"/>
                </a:solidFill>
                <a:latin typeface="Noto Sans JP"/>
                <a:ea typeface="Noto Sans JP"/>
                <a:cs typeface="Noto Sans JP"/>
              </a:defRPr>
            </a:pPr>
            <a:r>
              <a:rPr sz="1650" b="0">
                <a:solidFill>
                  <a:srgbClr val="526375"/>
                </a:solidFill>
                <a:latin typeface="Noto Sans JP"/>
                <a:ea typeface="Noto Sans JP"/>
                <a:cs typeface="Noto Sans JP"/>
              </a:rPr>
              <a:t>この例では未確認：APIの処理内容、呼び出し量、可用性など。</a:t>
            </a:r>
          </a:p>
        </p:txBody>
      </p:sp>
    </p:spTree>
    <p:extLst>
      <p:ext uri="{BB962C8B-B14F-4D97-AF65-F5344CB8AC3E}">
        <p14:creationId xmlns:p14="http://schemas.microsoft.com/office/powerpoint/2010/main" val="1655720918"/>
      </p:ext>
    </p:extLst>
  </p:cSld>
</p:sld>
</file>

<file path=ppt/slides/slide9.xml><?xml version="1.0" encoding="utf-8"?>
<p:sld xmlns:p="http://schemas.openxmlformats.org/presentationml/2006/main">
  <p:cSld>
    <p:bg>
      <p:bgPr>
        <a:solidFill xmlns:a="http://schemas.openxmlformats.org/drawingml/2006/main">
          <a:srgbClr val="142638"/>
        </a:solidFill>
      </p:bgPr>
    </p:bg>
    <p:spTree>
      <p:nvGrpSpPr>
        <p:cNvPr id="1" name=""/>
        <p:cNvGrpSpPr/>
        <p:nvPr/>
      </p:nvGrpSpPr>
      <p:grpSpPr>
        <a:xfrm xmlns:a="http://schemas.openxmlformats.org/drawingml/2006/main"/>
      </p:grpSpPr>
      <p:sp>
        <p:nvSpPr>
          <p:cNvPr id="4" name="09">
            <a:extLst xmlns:a="http://schemas.openxmlformats.org/drawingml/2006/main">
              <a:ext uri="{FF2B5EF4-FFF2-40B4-BE49-F238E27FC236}">
                <a16:creationId xmlns:a16="http://schemas.microsoft.com/office/drawing/2014/main" id="{B86847E8-5B21-4E8B-A4D2-A490D2E0861E}"/>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A6B7C8"/>
                </a:solidFill>
                <a:latin typeface="Noto Sans JP"/>
                <a:ea typeface="Noto Sans JP"/>
                <a:cs typeface="Noto Sans JP"/>
              </a:defRPr>
            </a:pPr>
            <a:r>
              <a:rPr sz="1200" b="0">
                <a:solidFill>
                  <a:srgbClr val="A6B7C8"/>
                </a:solidFill>
                <a:latin typeface="Noto Sans JP"/>
                <a:ea typeface="Noto Sans JP"/>
                <a:cs typeface="Noto Sans JP"/>
              </a:rPr>
              <a:t>09</a:t>
            </a:r>
          </a:p>
        </p:txBody>
      </p:sp>
      <p:sp>
        <p:nvSpPr>
          <p:cNvPr id="2" name="デモをやってみます">
            <a:extLst xmlns:a="http://schemas.openxmlformats.org/drawingml/2006/main">
              <a:ext uri="{FF2B5EF4-FFF2-40B4-BE49-F238E27FC236}">
                <a16:creationId xmlns:a16="http://schemas.microsoft.com/office/drawing/2014/main" id="{14A7BEE3-558F-44CC-AC97-19160F160234}"/>
              </a:ext>
            </a:extLst>
          </p:cNvPr>
          <p:cNvSpPr>
            <a:spLocks xmlns:a="http://schemas.openxmlformats.org/drawingml/2006/main" noGrp="1"/>
          </p:cNvSpPr>
          <p:nvPr/>
        </p:nvSpPr>
        <p:spPr>
          <a:xfrm xmlns:a="http://schemas.openxmlformats.org/drawingml/2006/main">
            <a:off x="685800" y="2181225"/>
            <a:ext cx="108204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5250" b="1">
                <a:solidFill>
                  <a:srgbClr val="FFFFFF"/>
                </a:solidFill>
                <a:latin typeface="Noto Sans JP"/>
                <a:ea typeface="Noto Sans JP"/>
                <a:cs typeface="Noto Sans JP"/>
              </a:defRPr>
            </a:pPr>
            <a:r>
              <a:rPr sz="5250" b="1">
                <a:solidFill>
                  <a:srgbClr val="FFFFFF"/>
                </a:solidFill>
                <a:latin typeface="Noto Sans JP"/>
                <a:ea typeface="Noto Sans JP"/>
                <a:cs typeface="Noto Sans JP"/>
              </a:rPr>
              <a:t>デモをやってみます</a:t>
            </a:r>
          </a:p>
        </p:txBody>
      </p:sp>
      <p:sp>
        <p:nvSpPr>
          <p:cNvPr id="3" name="今日の晩ご飯を grill-me で考える">
            <a:extLst xmlns:a="http://schemas.openxmlformats.org/drawingml/2006/main">
              <a:ext uri="{FF2B5EF4-FFF2-40B4-BE49-F238E27FC236}">
                <a16:creationId xmlns:a16="http://schemas.microsoft.com/office/drawing/2014/main" id="{30E270F1-D61D-4403-A68C-F17436CEBF04}"/>
              </a:ext>
            </a:extLst>
          </p:cNvPr>
          <p:cNvSpPr>
            <a:spLocks xmlns:a="http://schemas.openxmlformats.org/drawingml/2006/main" noGrp="1"/>
          </p:cNvSpPr>
          <p:nvPr/>
        </p:nvSpPr>
        <p:spPr>
          <a:xfrm xmlns:a="http://schemas.openxmlformats.org/drawingml/2006/main">
            <a:off x="733425" y="3705225"/>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925" b="0">
                <a:solidFill>
                  <a:srgbClr val="8AD8D4"/>
                </a:solidFill>
                <a:latin typeface="Noto Sans JP"/>
                <a:ea typeface="Noto Sans JP"/>
                <a:cs typeface="Noto Sans JP"/>
              </a:defRPr>
            </a:pPr>
            <a:r>
              <a:rPr sz="2925" b="0">
                <a:solidFill>
                  <a:srgbClr val="8AD8D4"/>
                </a:solidFill>
                <a:latin typeface="Noto Sans JP"/>
                <a:ea typeface="Noto Sans JP"/>
                <a:cs typeface="Noto Sans JP"/>
              </a:rPr>
              <a:t>今日の晩ご飯を grill-me で考える</a:t>
            </a:r>
          </a:p>
        </p:txBody>
      </p:sp>
    </p:spTree>
    <p:extLst>
      <p:ext uri="{BB962C8B-B14F-4D97-AF65-F5344CB8AC3E}">
        <p14:creationId xmlns:p14="http://schemas.microsoft.com/office/powerpoint/2010/main" val="1047874722"/>
      </p:ext>
    </p:extLst>
  </p:cSld>
</p:sld>
</file>

<file path=ppt/slides/slide10.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8" name="質問が広がりすぎたとき">
            <a:extLst xmlns:a="http://schemas.openxmlformats.org/drawingml/2006/main">
              <a:ext uri="{FF2B5EF4-FFF2-40B4-BE49-F238E27FC236}">
                <a16:creationId xmlns:a16="http://schemas.microsoft.com/office/drawing/2014/main" id="{3D7EA7FD-BD73-4FFF-9879-302B9E22F8E8}"/>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質問が広がりすぎたとき</a:t>
            </a:r>
          </a:p>
        </p:txBody>
      </p:sp>
      <p:sp>
        <p:nvSpPr>
          <p:cNvPr id="2" name="10">
            <a:extLst xmlns:a="http://schemas.openxmlformats.org/drawingml/2006/main">
              <a:ext uri="{FF2B5EF4-FFF2-40B4-BE49-F238E27FC236}">
                <a16:creationId xmlns:a16="http://schemas.microsoft.com/office/drawing/2014/main" id="{88E6FD79-9085-4EA8-8862-5093FD8E2B60}"/>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10</a:t>
            </a:r>
          </a:p>
        </p:txBody>
      </p:sp>
      <p:sp>
        <p:nvSpPr>
          <p:cNvPr id="3" name="「今回は認証と公開範囲だけ決めたいです」">
            <a:extLst xmlns:a="http://schemas.openxmlformats.org/drawingml/2006/main">
              <a:ext uri="{FF2B5EF4-FFF2-40B4-BE49-F238E27FC236}">
                <a16:creationId xmlns:a16="http://schemas.microsoft.com/office/drawing/2014/main" id="{166E9768-5FD3-4E77-AFDD-395E541AB08D}"/>
              </a:ext>
            </a:extLst>
          </p:cNvPr>
          <p:cNvSpPr>
            <a:spLocks xmlns:a="http://schemas.openxmlformats.org/drawingml/2006/main" noGrp="1"/>
          </p:cNvSpPr>
          <p:nvPr/>
        </p:nvSpPr>
        <p:spPr>
          <a:xfrm xmlns:a="http://schemas.openxmlformats.org/drawingml/2006/main">
            <a:off x="638175" y="18288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625" b="1">
                <a:solidFill>
                  <a:srgbClr val="145AB0"/>
                </a:solidFill>
                <a:latin typeface="Noto Sans JP"/>
                <a:ea typeface="Noto Sans JP"/>
                <a:cs typeface="Noto Sans JP"/>
              </a:defRPr>
            </a:pPr>
            <a:r>
              <a:rPr sz="2625" b="1">
                <a:solidFill>
                  <a:srgbClr val="145AB0"/>
                </a:solidFill>
                <a:latin typeface="Noto Sans JP"/>
                <a:ea typeface="Noto Sans JP"/>
                <a:cs typeface="Noto Sans JP"/>
              </a:rPr>
              <a:t>「今回は認証と公開範囲だけ決めたいです」</a:t>
            </a:r>
          </a:p>
        </p:txBody>
      </p:sp>
      <p:sp>
        <p:nvSpPr>
          <p:cNvPr id="4" name="何を決めたいか、範囲を指定する。">
            <a:extLst xmlns:a="http://schemas.openxmlformats.org/drawingml/2006/main">
              <a:ext uri="{FF2B5EF4-FFF2-40B4-BE49-F238E27FC236}">
                <a16:creationId xmlns:a16="http://schemas.microsoft.com/office/drawing/2014/main" id="{431B3237-EDE5-447F-BB16-C516540EBCF7}"/>
              </a:ext>
            </a:extLst>
          </p:cNvPr>
          <p:cNvSpPr>
            <a:spLocks xmlns:a="http://schemas.openxmlformats.org/drawingml/2006/main" noGrp="1"/>
          </p:cNvSpPr>
          <p:nvPr/>
        </p:nvSpPr>
        <p:spPr>
          <a:xfrm xmlns:a="http://schemas.openxmlformats.org/drawingml/2006/main">
            <a:off x="800100" y="2552700"/>
            <a:ext cx="1047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0">
                <a:solidFill>
                  <a:srgbClr val="526375"/>
                </a:solidFill>
                <a:latin typeface="Noto Sans JP"/>
                <a:ea typeface="Noto Sans JP"/>
                <a:cs typeface="Noto Sans JP"/>
              </a:defRPr>
            </a:pPr>
            <a:r>
              <a:rPr sz="2025" b="0">
                <a:solidFill>
                  <a:srgbClr val="526375"/>
                </a:solidFill>
                <a:latin typeface="Noto Sans JP"/>
                <a:ea typeface="Noto Sans JP"/>
                <a:cs typeface="Noto Sans JP"/>
              </a:rPr>
              <a:t>何を決めたいか、範囲を指定する。</a:t>
            </a:r>
          </a:p>
        </p:txBody>
      </p:sp>
      <p:sp>
        <p:nvSpPr>
          <p:cNvPr id="5" name="「性能はまだ分かりません。&#10;　検証項目にしてください」">
            <a:extLst xmlns:a="http://schemas.openxmlformats.org/drawingml/2006/main">
              <a:ext uri="{FF2B5EF4-FFF2-40B4-BE49-F238E27FC236}">
                <a16:creationId xmlns:a16="http://schemas.microsoft.com/office/drawing/2014/main" id="{D288E682-9380-4944-B896-3B87DA4C4428}"/>
              </a:ext>
            </a:extLst>
          </p:cNvPr>
          <p:cNvSpPr>
            <a:spLocks xmlns:a="http://schemas.openxmlformats.org/drawingml/2006/main" noGrp="1"/>
          </p:cNvSpPr>
          <p:nvPr/>
        </p:nvSpPr>
        <p:spPr>
          <a:xfrm xmlns:a="http://schemas.openxmlformats.org/drawingml/2006/main">
            <a:off x="638175" y="3476625"/>
            <a:ext cx="10858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nSpc>
                <a:spcPct val="135000"/>
              </a:lnSpc>
              <a:buNone/>
              <a:defRPr sz="2625" b="1">
                <a:solidFill>
                  <a:srgbClr val="17283A"/>
                </a:solidFill>
                <a:latin typeface="Noto Sans JP"/>
                <a:ea typeface="Noto Sans JP"/>
                <a:cs typeface="Noto Sans JP"/>
              </a:defRPr>
            </a:pPr>
            <a:r>
              <a:rPr sz="2625" b="1">
                <a:solidFill>
                  <a:srgbClr val="17283A"/>
                </a:solidFill>
                <a:latin typeface="Noto Sans JP"/>
                <a:ea typeface="Noto Sans JP"/>
                <a:cs typeface="Noto Sans JP"/>
              </a:rPr>
              <a:t>「性能はまだ分かりません。</a:t>
            </a:r>
          </a:p>
          <a:p xmlns:a="http://schemas.openxmlformats.org/drawingml/2006/main">
            <a:pPr>
              <a:lnSpc>
                <a:spcPct val="135000"/>
              </a:lnSpc>
              <a:buNone/>
              <a:defRPr sz="2625" b="1">
                <a:solidFill>
                  <a:srgbClr val="17283A"/>
                </a:solidFill>
                <a:latin typeface="Noto Sans JP"/>
                <a:ea typeface="Noto Sans JP"/>
                <a:cs typeface="Noto Sans JP"/>
              </a:defRPr>
            </a:pPr>
            <a:r>
              <a:rPr sz="2625" b="1">
                <a:solidFill>
                  <a:srgbClr val="17283A"/>
                </a:solidFill>
                <a:latin typeface="Noto Sans JP"/>
                <a:ea typeface="Noto Sans JP"/>
                <a:cs typeface="Noto Sans JP"/>
              </a:rPr>
              <a:t>　検証項目にしてください」</a:t>
            </a:r>
          </a:p>
        </p:txBody>
      </p:sp>
      <p:sp>
        <p:nvSpPr>
          <p:cNvPr id="6" name="分からないことまで、その場で決めなくてよい。">
            <a:extLst xmlns:a="http://schemas.openxmlformats.org/drawingml/2006/main">
              <a:ext uri="{FF2B5EF4-FFF2-40B4-BE49-F238E27FC236}">
                <a16:creationId xmlns:a16="http://schemas.microsoft.com/office/drawing/2014/main" id="{0E676421-A9B6-4FE5-9FEC-F4006B6F59A9}"/>
              </a:ext>
            </a:extLst>
          </p:cNvPr>
          <p:cNvSpPr>
            <a:spLocks xmlns:a="http://schemas.openxmlformats.org/drawingml/2006/main" noGrp="1"/>
          </p:cNvSpPr>
          <p:nvPr/>
        </p:nvSpPr>
        <p:spPr>
          <a:xfrm xmlns:a="http://schemas.openxmlformats.org/drawingml/2006/main">
            <a:off x="800100" y="4676775"/>
            <a:ext cx="1047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025" b="0">
                <a:solidFill>
                  <a:srgbClr val="526375"/>
                </a:solidFill>
                <a:latin typeface="Noto Sans JP"/>
                <a:ea typeface="Noto Sans JP"/>
                <a:cs typeface="Noto Sans JP"/>
              </a:defRPr>
            </a:pPr>
            <a:r>
              <a:rPr sz="2025" b="0">
                <a:solidFill>
                  <a:srgbClr val="526375"/>
                </a:solidFill>
                <a:latin typeface="Noto Sans JP"/>
                <a:ea typeface="Noto Sans JP"/>
                <a:cs typeface="Noto Sans JP"/>
              </a:rPr>
              <a:t>分からないことまで、その場で決めなくてよい。</a:t>
            </a:r>
          </a:p>
        </p:txBody>
      </p:sp>
      <p:sp>
        <p:nvSpPr>
          <p:cNvPr id="7" name="推奨案も確認は必要。製品仕様の調査や性能の実測は、別に行います。">
            <a:extLst xmlns:a="http://schemas.openxmlformats.org/drawingml/2006/main">
              <a:ext uri="{FF2B5EF4-FFF2-40B4-BE49-F238E27FC236}">
                <a16:creationId xmlns:a16="http://schemas.microsoft.com/office/drawing/2014/main" id="{3A1660F8-CF2C-4CC1-B31C-CA4C16E0331F}"/>
              </a:ext>
            </a:extLst>
          </p:cNvPr>
          <p:cNvSpPr>
            <a:spLocks xmlns:a="http://schemas.openxmlformats.org/drawingml/2006/main" noGrp="1"/>
          </p:cNvSpPr>
          <p:nvPr/>
        </p:nvSpPr>
        <p:spPr>
          <a:xfrm xmlns:a="http://schemas.openxmlformats.org/drawingml/2006/main">
            <a:off x="638175" y="5905500"/>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800" b="0">
                <a:solidFill>
                  <a:srgbClr val="526375"/>
                </a:solidFill>
                <a:latin typeface="Noto Sans JP"/>
                <a:ea typeface="Noto Sans JP"/>
                <a:cs typeface="Noto Sans JP"/>
              </a:defRPr>
            </a:pPr>
            <a:r>
              <a:rPr sz="1800" b="0">
                <a:solidFill>
                  <a:srgbClr val="526375"/>
                </a:solidFill>
                <a:latin typeface="Noto Sans JP"/>
                <a:ea typeface="Noto Sans JP"/>
                <a:cs typeface="Noto Sans JP"/>
              </a:rPr>
              <a:t>推奨案も確認は必要。製品仕様の調査や性能の実測は、別に行います。</a:t>
            </a:r>
          </a:p>
        </p:txBody>
      </p:sp>
    </p:spTree>
    <p:extLst>
      <p:ext uri="{BB962C8B-B14F-4D97-AF65-F5344CB8AC3E}">
        <p14:creationId xmlns:p14="http://schemas.microsoft.com/office/powerpoint/2010/main" val="1903275098"/>
      </p:ext>
    </p:extLst>
  </p:cSld>
</p:sld>
</file>

<file path=ppt/slides/slide1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0" name="参考資料">
            <a:extLst xmlns:a="http://schemas.openxmlformats.org/drawingml/2006/main">
              <a:ext uri="{FF2B5EF4-FFF2-40B4-BE49-F238E27FC236}">
                <a16:creationId xmlns:a16="http://schemas.microsoft.com/office/drawing/2014/main" id="{6647A36D-3452-4F87-8E29-CBC07CF9D2F8}"/>
              </a:ext>
            </a:extLst>
          </p:cNvPr>
          <p:cNvSpPr>
            <a:spLocks xmlns:a="http://schemas.openxmlformats.org/drawingml/2006/main" noGrp="1"/>
          </p:cNvSpPr>
          <p:nvPr/>
        </p:nvSpPr>
        <p:spPr>
          <a:xfrm xmlns:a="http://schemas.openxmlformats.org/drawingml/2006/main">
            <a:off x="609600" y="44767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3450" b="1">
                <a:solidFill>
                  <a:srgbClr val="17283A"/>
                </a:solidFill>
                <a:latin typeface="Noto Sans JP"/>
                <a:ea typeface="Noto Sans JP"/>
                <a:cs typeface="Noto Sans JP"/>
              </a:defRPr>
            </a:pPr>
            <a:r>
              <a:rPr sz="3450" b="1">
                <a:solidFill>
                  <a:srgbClr val="17283A"/>
                </a:solidFill>
                <a:latin typeface="Noto Sans JP"/>
                <a:ea typeface="Noto Sans JP"/>
                <a:cs typeface="Noto Sans JP"/>
              </a:rPr>
              <a:t>参考資料</a:t>
            </a:r>
          </a:p>
        </p:txBody>
      </p:sp>
      <p:sp>
        <p:nvSpPr>
          <p:cNvPr id="2" name="11">
            <a:extLst xmlns:a="http://schemas.openxmlformats.org/drawingml/2006/main">
              <a:ext uri="{FF2B5EF4-FFF2-40B4-BE49-F238E27FC236}">
                <a16:creationId xmlns:a16="http://schemas.microsoft.com/office/drawing/2014/main" id="{1C6D26DE-7B63-418F-9AC3-AE2BE2F81E66}"/>
              </a:ext>
            </a:extLst>
          </p:cNvPr>
          <p:cNvSpPr>
            <a:spLocks xmlns:a="http://schemas.openxmlformats.org/drawingml/2006/main" noGrp="1"/>
          </p:cNvSpPr>
          <p:nvPr/>
        </p:nvSpPr>
        <p:spPr>
          <a:xfrm xmlns:a="http://schemas.openxmlformats.org/drawingml/2006/main">
            <a:off x="11239500" y="6410325"/>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200" b="0">
                <a:solidFill>
                  <a:srgbClr val="526375"/>
                </a:solidFill>
                <a:latin typeface="Noto Sans JP"/>
                <a:ea typeface="Noto Sans JP"/>
                <a:cs typeface="Noto Sans JP"/>
              </a:defRPr>
            </a:pPr>
            <a:r>
              <a:rPr sz="1200" b="0">
                <a:solidFill>
                  <a:srgbClr val="526375"/>
                </a:solidFill>
                <a:latin typeface="Noto Sans JP"/>
                <a:ea typeface="Noto Sans JP"/>
                <a:cs typeface="Noto Sans JP"/>
              </a:rPr>
              <a:t>11</a:t>
            </a:r>
          </a:p>
        </p:txBody>
      </p:sp>
      <p:sp>
        <p:nvSpPr>
          <p:cNvPr id="3" name="公開Skillsの一覧と追加方法">
            <a:extLst xmlns:a="http://schemas.openxmlformats.org/drawingml/2006/main">
              <a:ext uri="{FF2B5EF4-FFF2-40B4-BE49-F238E27FC236}">
                <a16:creationId xmlns:a16="http://schemas.microsoft.com/office/drawing/2014/main" id="{E9C3ECAD-FA1F-4C00-8975-EDA67E90E218}"/>
              </a:ext>
            </a:extLst>
          </p:cNvPr>
          <p:cNvSpPr>
            <a:spLocks xmlns:a="http://schemas.openxmlformats.org/drawingml/2006/main" noGrp="1"/>
          </p:cNvSpPr>
          <p:nvPr/>
        </p:nvSpPr>
        <p:spPr>
          <a:xfrm xmlns:a="http://schemas.openxmlformats.org/drawingml/2006/main">
            <a:off x="638175" y="1704975"/>
            <a:ext cx="10572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325" b="1">
                <a:solidFill>
                  <a:srgbClr val="17283A"/>
                </a:solidFill>
                <a:latin typeface="Noto Sans JP"/>
                <a:ea typeface="Noto Sans JP"/>
                <a:cs typeface="Noto Sans JP"/>
              </a:defRPr>
            </a:pPr>
            <a:r>
              <a:rPr sz="2325" b="1">
                <a:solidFill>
                  <a:srgbClr val="17283A"/>
                </a:solidFill>
                <a:latin typeface="Noto Sans JP"/>
                <a:ea typeface="Noto Sans JP"/>
                <a:cs typeface="Noto Sans JP"/>
              </a:rPr>
              <a:t>公開Skillsの一覧と追加方法</a:t>
            </a:r>
          </a:p>
        </p:txBody>
      </p:sp>
      <p:sp>
        <p:nvSpPr>
          <p:cNvPr id="4" name="github.com/mattpocock/skills">
            <a:extLst xmlns:a="http://schemas.openxmlformats.org/drawingml/2006/main">
              <a:ext uri="{FF2B5EF4-FFF2-40B4-BE49-F238E27FC236}">
                <a16:creationId xmlns:a16="http://schemas.microsoft.com/office/drawing/2014/main" id="{2E5DAE95-2D15-442A-AA38-F441EF8F19A4}"/>
              </a:ext>
            </a:extLst>
          </p:cNvPr>
          <p:cNvSpPr>
            <a:spLocks xmlns:a="http://schemas.openxmlformats.org/drawingml/2006/main" noGrp="1"/>
          </p:cNvSpPr>
          <p:nvPr/>
        </p:nvSpPr>
        <p:spPr>
          <a:xfrm xmlns:a="http://schemas.openxmlformats.org/drawingml/2006/main">
            <a:off x="638175" y="23050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145AB0"/>
                </a:solidFill>
                <a:latin typeface="Noto Sans JP"/>
                <a:ea typeface="Noto Sans JP"/>
                <a:cs typeface="Noto Sans JP"/>
              </a:defRPr>
            </a:pPr>
            <a:r>
              <a:rPr sz="2175" b="0">
                <a:solidFill>
                  <a:srgbClr val="145AB0"/>
                </a:solidFill>
                <a:latin typeface="Noto Sans JP"/>
                <a:ea typeface="Noto Sans JP"/>
                <a:cs typeface="Noto Sans JP"/>
                <a:hlinkClick xmlns:r="http://schemas.openxmlformats.org/officeDocument/2006/relationships" r:id="R01790fd762514520"/>
              </a:rPr>
              <a:t>github.com/mattpocock/skills</a:t>
            </a:r>
          </a:p>
        </p:txBody>
      </p:sp>
      <p:sp>
        <p:nvSpPr>
          <p:cNvPr id="5" name="質問に答えて、案や要件を詰める">
            <a:extLst xmlns:a="http://schemas.openxmlformats.org/drawingml/2006/main">
              <a:ext uri="{FF2B5EF4-FFF2-40B4-BE49-F238E27FC236}">
                <a16:creationId xmlns:a16="http://schemas.microsoft.com/office/drawing/2014/main" id="{9E886F64-4C43-4059-B677-D768F3F54CD7}"/>
              </a:ext>
            </a:extLst>
          </p:cNvPr>
          <p:cNvSpPr>
            <a:spLocks xmlns:a="http://schemas.openxmlformats.org/drawingml/2006/main" noGrp="1"/>
          </p:cNvSpPr>
          <p:nvPr/>
        </p:nvSpPr>
        <p:spPr>
          <a:xfrm xmlns:a="http://schemas.openxmlformats.org/drawingml/2006/main">
            <a:off x="638175" y="3314700"/>
            <a:ext cx="10572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00" b="1">
                <a:solidFill>
                  <a:srgbClr val="17283A"/>
                </a:solidFill>
                <a:latin typeface="Noto Sans JP"/>
                <a:ea typeface="Noto Sans JP"/>
                <a:cs typeface="Noto Sans JP"/>
              </a:defRPr>
            </a:pPr>
            <a:r>
              <a:rPr sz="2100" b="1">
                <a:solidFill>
                  <a:srgbClr val="17283A"/>
                </a:solidFill>
                <a:latin typeface="Noto Sans JP"/>
                <a:ea typeface="Noto Sans JP"/>
                <a:cs typeface="Noto Sans JP"/>
              </a:rPr>
              <a:t>質問に答えて、案や要件を詰める</a:t>
            </a:r>
          </a:p>
        </p:txBody>
      </p:sp>
      <p:sp>
        <p:nvSpPr>
          <p:cNvPr id="6" name="grill-me / SKILL.md">
            <a:extLst xmlns:a="http://schemas.openxmlformats.org/drawingml/2006/main">
              <a:ext uri="{FF2B5EF4-FFF2-40B4-BE49-F238E27FC236}">
                <a16:creationId xmlns:a16="http://schemas.microsoft.com/office/drawing/2014/main" id="{7F764C19-9CD0-4177-89D0-55ECFDA8F6B3}"/>
              </a:ext>
            </a:extLst>
          </p:cNvPr>
          <p:cNvSpPr>
            <a:spLocks xmlns:a="http://schemas.openxmlformats.org/drawingml/2006/main" noGrp="1"/>
          </p:cNvSpPr>
          <p:nvPr/>
        </p:nvSpPr>
        <p:spPr>
          <a:xfrm xmlns:a="http://schemas.openxmlformats.org/drawingml/2006/main">
            <a:off x="638175" y="38862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145AB0"/>
                </a:solidFill>
                <a:latin typeface="Noto Sans JP"/>
                <a:ea typeface="Noto Sans JP"/>
                <a:cs typeface="Noto Sans JP"/>
              </a:defRPr>
            </a:pPr>
            <a:r>
              <a:rPr sz="2175" b="0">
                <a:solidFill>
                  <a:srgbClr val="145AB0"/>
                </a:solidFill>
                <a:latin typeface="Noto Sans JP"/>
                <a:ea typeface="Noto Sans JP"/>
                <a:cs typeface="Noto Sans JP"/>
                <a:hlinkClick xmlns:r="http://schemas.openxmlformats.org/officeDocument/2006/relationships" r:id="R0008c01098ae4201"/>
              </a:rPr>
              <a:t>grill-me / SKILL.md</a:t>
            </a:r>
          </a:p>
        </p:txBody>
      </p:sp>
      <p:sp>
        <p:nvSpPr>
          <p:cNvPr id="7" name="用語や設計判断も文書に残す">
            <a:extLst xmlns:a="http://schemas.openxmlformats.org/drawingml/2006/main">
              <a:ext uri="{FF2B5EF4-FFF2-40B4-BE49-F238E27FC236}">
                <a16:creationId xmlns:a16="http://schemas.microsoft.com/office/drawing/2014/main" id="{27A414CA-9A5B-4CA5-9A62-52B838C37B0B}"/>
              </a:ext>
            </a:extLst>
          </p:cNvPr>
          <p:cNvSpPr>
            <a:spLocks xmlns:a="http://schemas.openxmlformats.org/drawingml/2006/main" noGrp="1"/>
          </p:cNvSpPr>
          <p:nvPr/>
        </p:nvSpPr>
        <p:spPr>
          <a:xfrm xmlns:a="http://schemas.openxmlformats.org/drawingml/2006/main">
            <a:off x="638175" y="4895850"/>
            <a:ext cx="10572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00" b="1">
                <a:solidFill>
                  <a:srgbClr val="17283A"/>
                </a:solidFill>
                <a:latin typeface="Noto Sans JP"/>
                <a:ea typeface="Noto Sans JP"/>
                <a:cs typeface="Noto Sans JP"/>
              </a:defRPr>
            </a:pPr>
            <a:r>
              <a:rPr sz="2100" b="1">
                <a:solidFill>
                  <a:srgbClr val="17283A"/>
                </a:solidFill>
                <a:latin typeface="Noto Sans JP"/>
                <a:ea typeface="Noto Sans JP"/>
                <a:cs typeface="Noto Sans JP"/>
              </a:rPr>
              <a:t>用語や設計判断も文書に残す</a:t>
            </a:r>
          </a:p>
        </p:txBody>
      </p:sp>
      <p:sp>
        <p:nvSpPr>
          <p:cNvPr id="8" name="grill-with-docs / SKILL.md">
            <a:extLst xmlns:a="http://schemas.openxmlformats.org/drawingml/2006/main">
              <a:ext uri="{FF2B5EF4-FFF2-40B4-BE49-F238E27FC236}">
                <a16:creationId xmlns:a16="http://schemas.microsoft.com/office/drawing/2014/main" id="{CE583165-3CEC-49F0-9CE7-9CC4FF92D025}"/>
              </a:ext>
            </a:extLst>
          </p:cNvPr>
          <p:cNvSpPr>
            <a:spLocks xmlns:a="http://schemas.openxmlformats.org/drawingml/2006/main" noGrp="1"/>
          </p:cNvSpPr>
          <p:nvPr/>
        </p:nvSpPr>
        <p:spPr>
          <a:xfrm xmlns:a="http://schemas.openxmlformats.org/drawingml/2006/main">
            <a:off x="638175" y="54673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2175" b="0">
                <a:solidFill>
                  <a:srgbClr val="145AB0"/>
                </a:solidFill>
                <a:latin typeface="Noto Sans JP"/>
                <a:ea typeface="Noto Sans JP"/>
                <a:cs typeface="Noto Sans JP"/>
              </a:defRPr>
            </a:pPr>
            <a:r>
              <a:rPr sz="2175" b="0">
                <a:solidFill>
                  <a:srgbClr val="145AB0"/>
                </a:solidFill>
                <a:latin typeface="Noto Sans JP"/>
                <a:ea typeface="Noto Sans JP"/>
                <a:cs typeface="Noto Sans JP"/>
                <a:hlinkClick xmlns:r="http://schemas.openxmlformats.org/officeDocument/2006/relationships" r:id="Rb6b273c3ad654768"/>
              </a:rPr>
              <a:t>grill-with-docs / SKILL.md</a:t>
            </a:r>
          </a:p>
        </p:txBody>
      </p:sp>
      <p:sp>
        <p:nvSpPr>
          <p:cNvPr id="9" name="公開元：Matt Pocock / mattpocock/skills（MIT）">
            <a:extLst xmlns:a="http://schemas.openxmlformats.org/drawingml/2006/main">
              <a:ext uri="{FF2B5EF4-FFF2-40B4-BE49-F238E27FC236}">
                <a16:creationId xmlns:a16="http://schemas.microsoft.com/office/drawing/2014/main" id="{79C97A37-E816-4AA8-89E5-065722FD5B3E}"/>
              </a:ext>
            </a:extLst>
          </p:cNvPr>
          <p:cNvSpPr>
            <a:spLocks xmlns:a="http://schemas.openxmlformats.org/drawingml/2006/main" noGrp="1"/>
          </p:cNvSpPr>
          <p:nvPr/>
        </p:nvSpPr>
        <p:spPr>
          <a:xfrm xmlns:a="http://schemas.openxmlformats.org/drawingml/2006/main">
            <a:off x="638175" y="623887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1350" b="0">
                <a:solidFill>
                  <a:srgbClr val="526375"/>
                </a:solidFill>
                <a:latin typeface="Noto Sans JP"/>
                <a:ea typeface="Noto Sans JP"/>
                <a:cs typeface="Noto Sans JP"/>
              </a:defRPr>
            </a:pPr>
            <a:r>
              <a:rPr sz="1350" b="0">
                <a:solidFill>
                  <a:srgbClr val="526375"/>
                </a:solidFill>
                <a:latin typeface="Noto Sans JP"/>
                <a:ea typeface="Noto Sans JP"/>
                <a:cs typeface="Noto Sans JP"/>
              </a:rPr>
              <a:t>公開元：Matt Pocock / mattpocock/skills（MIT）。公開内容は更新されることがあります。</a:t>
            </a:r>
          </a:p>
        </p:txBody>
      </p:sp>
    </p:spTree>
    <p:extLst>
      <p:ext uri="{BB962C8B-B14F-4D97-AF65-F5344CB8AC3E}">
        <p14:creationId xmlns:p14="http://schemas.microsoft.com/office/powerpoint/2010/main" val="11952699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2026-09-29T13:02:56.9640000Z</dcterms:created>
  <dcterms:modified xsi:type="dcterms:W3CDTF">2026-09-29T13:02:56.9640000Z</dcterms:modified>
</coreProperties>
</file>